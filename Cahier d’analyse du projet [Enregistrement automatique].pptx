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1"/>
  </p:notesMasterIdLst>
  <p:handoutMasterIdLst>
    <p:handoutMasterId r:id="rId32"/>
  </p:handoutMasterIdLst>
  <p:sldIdLst>
    <p:sldId id="256" r:id="rId5"/>
    <p:sldId id="288" r:id="rId6"/>
    <p:sldId id="278" r:id="rId7"/>
    <p:sldId id="279" r:id="rId8"/>
    <p:sldId id="280" r:id="rId9"/>
    <p:sldId id="302" r:id="rId10"/>
    <p:sldId id="303" r:id="rId11"/>
    <p:sldId id="304" r:id="rId12"/>
    <p:sldId id="305" r:id="rId13"/>
    <p:sldId id="306" r:id="rId14"/>
    <p:sldId id="307" r:id="rId15"/>
    <p:sldId id="289" r:id="rId16"/>
    <p:sldId id="285" r:id="rId17"/>
    <p:sldId id="301" r:id="rId18"/>
    <p:sldId id="293" r:id="rId19"/>
    <p:sldId id="294" r:id="rId20"/>
    <p:sldId id="295" r:id="rId21"/>
    <p:sldId id="296" r:id="rId22"/>
    <p:sldId id="297" r:id="rId23"/>
    <p:sldId id="298" r:id="rId24"/>
    <p:sldId id="299" r:id="rId25"/>
    <p:sldId id="308" r:id="rId26"/>
    <p:sldId id="309" r:id="rId27"/>
    <p:sldId id="300" r:id="rId28"/>
    <p:sldId id="287" r:id="rId29"/>
    <p:sldId id="292" r:id="rId30"/>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6340" autoAdjust="0"/>
  </p:normalViewPr>
  <p:slideViewPr>
    <p:cSldViewPr snapToGrid="0">
      <p:cViewPr varScale="1">
        <p:scale>
          <a:sx n="85" d="100"/>
          <a:sy n="85" d="100"/>
        </p:scale>
        <p:origin x="456"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79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ICE MAMELEM DJANZE" userId="1e1b114c329216fc" providerId="LiveId" clId="{B4EC98A1-B6C2-4E42-B1D4-8A1CB98371AB}"/>
    <pc:docChg chg="undo custSel modSld">
      <pc:chgData name="RONICE MAMELEM DJANZE" userId="1e1b114c329216fc" providerId="LiveId" clId="{B4EC98A1-B6C2-4E42-B1D4-8A1CB98371AB}" dt="2026-01-24T07:06:04.633" v="54" actId="255"/>
      <pc:docMkLst>
        <pc:docMk/>
      </pc:docMkLst>
      <pc:sldChg chg="addSp delSp modSp">
        <pc:chgData name="RONICE MAMELEM DJANZE" userId="1e1b114c329216fc" providerId="LiveId" clId="{B4EC98A1-B6C2-4E42-B1D4-8A1CB98371AB}" dt="2026-01-24T07:06:04.633" v="54" actId="255"/>
        <pc:sldMkLst>
          <pc:docMk/>
          <pc:sldMk cId="2271393873" sldId="285"/>
        </pc:sldMkLst>
        <pc:spChg chg="add mod">
          <ac:chgData name="RONICE MAMELEM DJANZE" userId="1e1b114c329216fc" providerId="LiveId" clId="{B4EC98A1-B6C2-4E42-B1D4-8A1CB98371AB}" dt="2026-01-24T07:06:04.633" v="54" actId="255"/>
          <ac:spMkLst>
            <pc:docMk/>
            <pc:sldMk cId="2271393873" sldId="285"/>
            <ac:spMk id="2" creationId="{890CDEA7-82C6-411A-8531-8E4820D05D31}"/>
          </ac:spMkLst>
        </pc:spChg>
        <pc:spChg chg="add del mod">
          <ac:chgData name="RONICE MAMELEM DJANZE" userId="1e1b114c329216fc" providerId="LiveId" clId="{B4EC98A1-B6C2-4E42-B1D4-8A1CB98371AB}" dt="2026-01-24T07:04:55.823" v="4" actId="478"/>
          <ac:spMkLst>
            <pc:docMk/>
            <pc:sldMk cId="2271393873" sldId="285"/>
            <ac:spMk id="6" creationId="{09E55E8D-3DFB-415D-9E4C-63006FC0128B}"/>
          </ac:spMkLst>
        </pc:spChg>
      </pc:sldChg>
      <pc:sldChg chg="modSp">
        <pc:chgData name="RONICE MAMELEM DJANZE" userId="1e1b114c329216fc" providerId="LiveId" clId="{B4EC98A1-B6C2-4E42-B1D4-8A1CB98371AB}" dt="2026-01-24T07:04:18.786" v="0" actId="1035"/>
        <pc:sldMkLst>
          <pc:docMk/>
          <pc:sldMk cId="551646919" sldId="293"/>
        </pc:sldMkLst>
        <pc:graphicFrameChg chg="mod">
          <ac:chgData name="RONICE MAMELEM DJANZE" userId="1e1b114c329216fc" providerId="LiveId" clId="{B4EC98A1-B6C2-4E42-B1D4-8A1CB98371AB}" dt="2026-01-24T07:04:18.786" v="0" actId="1035"/>
          <ac:graphicFrameMkLst>
            <pc:docMk/>
            <pc:sldMk cId="551646919" sldId="293"/>
            <ac:graphicFrameMk id="13" creationId="{7A20F483-28AC-40F0-9E13-9ED0691F7A80}"/>
          </ac:graphicFrameMkLst>
        </pc:graphicFrameChg>
      </pc:sldChg>
    </pc:docChg>
  </pc:docChgLst>
  <pc:docChgLst>
    <pc:chgData name="RONICE MAMELEM DJANZE" userId="1e1b114c329216fc" providerId="LiveId" clId="{410A1ABA-2170-4D94-B952-059073DC1E09}"/>
    <pc:docChg chg="undo custSel addSld modSld sldOrd">
      <pc:chgData name="RONICE MAMELEM DJANZE" userId="1e1b114c329216fc" providerId="LiveId" clId="{410A1ABA-2170-4D94-B952-059073DC1E09}" dt="2026-01-17T04:32:53.386" v="1230" actId="20577"/>
      <pc:docMkLst>
        <pc:docMk/>
      </pc:docMkLst>
      <pc:sldChg chg="modSp">
        <pc:chgData name="RONICE MAMELEM DJANZE" userId="1e1b114c329216fc" providerId="LiveId" clId="{410A1ABA-2170-4D94-B952-059073DC1E09}" dt="2026-01-17T03:46:28.788" v="891"/>
        <pc:sldMkLst>
          <pc:docMk/>
          <pc:sldMk cId="4184831669" sldId="302"/>
        </pc:sldMkLst>
        <pc:graphicFrameChg chg="mod">
          <ac:chgData name="RONICE MAMELEM DJANZE" userId="1e1b114c329216fc" providerId="LiveId" clId="{410A1ABA-2170-4D94-B952-059073DC1E09}" dt="2026-01-17T03:46:28.788" v="891"/>
          <ac:graphicFrameMkLst>
            <pc:docMk/>
            <pc:sldMk cId="4184831669" sldId="302"/>
            <ac:graphicFrameMk id="4" creationId="{D74BBEF4-BE09-465D-AB92-4AE176520CED}"/>
          </ac:graphicFrameMkLst>
        </pc:graphicFrameChg>
      </pc:sldChg>
      <pc:sldChg chg="modSp add ord">
        <pc:chgData name="RONICE MAMELEM DJANZE" userId="1e1b114c329216fc" providerId="LiveId" clId="{410A1ABA-2170-4D94-B952-059073DC1E09}" dt="2026-01-17T02:57:40.718" v="169" actId="113"/>
        <pc:sldMkLst>
          <pc:docMk/>
          <pc:sldMk cId="1149610789" sldId="303"/>
        </pc:sldMkLst>
        <pc:spChg chg="mod">
          <ac:chgData name="RONICE MAMELEM DJANZE" userId="1e1b114c329216fc" providerId="LiveId" clId="{410A1ABA-2170-4D94-B952-059073DC1E09}" dt="2026-01-17T02:29:13.709" v="61" actId="1076"/>
          <ac:spMkLst>
            <pc:docMk/>
            <pc:sldMk cId="1149610789" sldId="303"/>
            <ac:spMk id="2" creationId="{E41A8497-0187-44FC-A9CC-CD2F003E5ECB}"/>
          </ac:spMkLst>
        </pc:spChg>
        <pc:spChg chg="mod">
          <ac:chgData name="RONICE MAMELEM DJANZE" userId="1e1b114c329216fc" providerId="LiveId" clId="{410A1ABA-2170-4D94-B952-059073DC1E09}" dt="2026-01-17T02:57:40.718" v="169" actId="113"/>
          <ac:spMkLst>
            <pc:docMk/>
            <pc:sldMk cId="1149610789" sldId="303"/>
            <ac:spMk id="3" creationId="{2A1421F4-8596-490B-9233-357930C59F28}"/>
          </ac:spMkLst>
        </pc:spChg>
      </pc:sldChg>
      <pc:sldChg chg="addSp modSp add ord">
        <pc:chgData name="RONICE MAMELEM DJANZE" userId="1e1b114c329216fc" providerId="LiveId" clId="{410A1ABA-2170-4D94-B952-059073DC1E09}" dt="2026-01-17T03:25:25.629" v="287" actId="20577"/>
        <pc:sldMkLst>
          <pc:docMk/>
          <pc:sldMk cId="351967075" sldId="304"/>
        </pc:sldMkLst>
        <pc:spChg chg="mod">
          <ac:chgData name="RONICE MAMELEM DJANZE" userId="1e1b114c329216fc" providerId="LiveId" clId="{410A1ABA-2170-4D94-B952-059073DC1E09}" dt="2026-01-17T03:21:24.915" v="274" actId="20577"/>
          <ac:spMkLst>
            <pc:docMk/>
            <pc:sldMk cId="351967075" sldId="304"/>
            <ac:spMk id="3" creationId="{2A1421F4-8596-490B-9233-357930C59F28}"/>
          </ac:spMkLst>
        </pc:spChg>
        <pc:graphicFrameChg chg="add mod modGraphic">
          <ac:chgData name="RONICE MAMELEM DJANZE" userId="1e1b114c329216fc" providerId="LiveId" clId="{410A1ABA-2170-4D94-B952-059073DC1E09}" dt="2026-01-17T03:25:25.629" v="287" actId="20577"/>
          <ac:graphicFrameMkLst>
            <pc:docMk/>
            <pc:sldMk cId="351967075" sldId="304"/>
            <ac:graphicFrameMk id="4" creationId="{DFD07CFD-81DC-4393-8788-E79C8058D18F}"/>
          </ac:graphicFrameMkLst>
        </pc:graphicFrameChg>
      </pc:sldChg>
      <pc:sldChg chg="modSp add ord">
        <pc:chgData name="RONICE MAMELEM DJANZE" userId="1e1b114c329216fc" providerId="LiveId" clId="{410A1ABA-2170-4D94-B952-059073DC1E09}" dt="2026-01-17T02:52:37.458" v="154" actId="20577"/>
        <pc:sldMkLst>
          <pc:docMk/>
          <pc:sldMk cId="1665912336" sldId="305"/>
        </pc:sldMkLst>
        <pc:spChg chg="mod">
          <ac:chgData name="RONICE MAMELEM DJANZE" userId="1e1b114c329216fc" providerId="LiveId" clId="{410A1ABA-2170-4D94-B952-059073DC1E09}" dt="2026-01-17T02:52:37.458" v="154" actId="20577"/>
          <ac:spMkLst>
            <pc:docMk/>
            <pc:sldMk cId="1665912336" sldId="305"/>
            <ac:spMk id="3" creationId="{2A1421F4-8596-490B-9233-357930C59F28}"/>
          </ac:spMkLst>
        </pc:spChg>
      </pc:sldChg>
      <pc:sldChg chg="modSp add">
        <pc:chgData name="RONICE MAMELEM DJANZE" userId="1e1b114c329216fc" providerId="LiveId" clId="{410A1ABA-2170-4D94-B952-059073DC1E09}" dt="2026-01-17T03:03:08.757" v="223" actId="20577"/>
        <pc:sldMkLst>
          <pc:docMk/>
          <pc:sldMk cId="2876718821" sldId="306"/>
        </pc:sldMkLst>
        <pc:spChg chg="mod">
          <ac:chgData name="RONICE MAMELEM DJANZE" userId="1e1b114c329216fc" providerId="LiveId" clId="{410A1ABA-2170-4D94-B952-059073DC1E09}" dt="2026-01-17T03:03:08.757" v="223" actId="20577"/>
          <ac:spMkLst>
            <pc:docMk/>
            <pc:sldMk cId="2876718821" sldId="306"/>
            <ac:spMk id="3" creationId="{2A1421F4-8596-490B-9233-357930C59F28}"/>
          </ac:spMkLst>
        </pc:spChg>
      </pc:sldChg>
      <pc:sldChg chg="addSp modSp add">
        <pc:chgData name="RONICE MAMELEM DJANZE" userId="1e1b114c329216fc" providerId="LiveId" clId="{410A1ABA-2170-4D94-B952-059073DC1E09}" dt="2026-01-17T03:36:34.349" v="439"/>
        <pc:sldMkLst>
          <pc:docMk/>
          <pc:sldMk cId="2717760231" sldId="307"/>
        </pc:sldMkLst>
        <pc:spChg chg="mod">
          <ac:chgData name="RONICE MAMELEM DJANZE" userId="1e1b114c329216fc" providerId="LiveId" clId="{410A1ABA-2170-4D94-B952-059073DC1E09}" dt="2026-01-17T03:07:49.296" v="230" actId="20577"/>
          <ac:spMkLst>
            <pc:docMk/>
            <pc:sldMk cId="2717760231" sldId="307"/>
            <ac:spMk id="3" creationId="{2A1421F4-8596-490B-9233-357930C59F28}"/>
          </ac:spMkLst>
        </pc:spChg>
        <pc:graphicFrameChg chg="add mod modGraphic">
          <ac:chgData name="RONICE MAMELEM DJANZE" userId="1e1b114c329216fc" providerId="LiveId" clId="{410A1ABA-2170-4D94-B952-059073DC1E09}" dt="2026-01-17T03:36:34.349" v="439"/>
          <ac:graphicFrameMkLst>
            <pc:docMk/>
            <pc:sldMk cId="2717760231" sldId="307"/>
            <ac:graphicFrameMk id="4" creationId="{1A043A69-9844-435D-8A39-6F90F0465AA6}"/>
          </ac:graphicFrameMkLst>
        </pc:graphicFrameChg>
      </pc:sldChg>
      <pc:sldChg chg="modSp add">
        <pc:chgData name="RONICE MAMELEM DJANZE" userId="1e1b114c329216fc" providerId="LiveId" clId="{410A1ABA-2170-4D94-B952-059073DC1E09}" dt="2026-01-17T04:24:39.739" v="1102"/>
        <pc:sldMkLst>
          <pc:docMk/>
          <pc:sldMk cId="1578226066" sldId="308"/>
        </pc:sldMkLst>
        <pc:spChg chg="mod">
          <ac:chgData name="RONICE MAMELEM DJANZE" userId="1e1b114c329216fc" providerId="LiveId" clId="{410A1ABA-2170-4D94-B952-059073DC1E09}" dt="2026-01-17T04:13:16.263" v="950" actId="20577"/>
          <ac:spMkLst>
            <pc:docMk/>
            <pc:sldMk cId="1578226066" sldId="308"/>
            <ac:spMk id="2" creationId="{11318326-372E-4E52-9193-5EDD4D25B93D}"/>
          </ac:spMkLst>
        </pc:spChg>
        <pc:graphicFrameChg chg="mod modGraphic">
          <ac:chgData name="RONICE MAMELEM DJANZE" userId="1e1b114c329216fc" providerId="LiveId" clId="{410A1ABA-2170-4D94-B952-059073DC1E09}" dt="2026-01-17T04:24:39.739" v="1102"/>
          <ac:graphicFrameMkLst>
            <pc:docMk/>
            <pc:sldMk cId="1578226066" sldId="308"/>
            <ac:graphicFrameMk id="4" creationId="{5F2DED42-1EC9-4490-B603-DF589D3980F4}"/>
          </ac:graphicFrameMkLst>
        </pc:graphicFrameChg>
      </pc:sldChg>
      <pc:sldChg chg="modSp add">
        <pc:chgData name="RONICE MAMELEM DJANZE" userId="1e1b114c329216fc" providerId="LiveId" clId="{410A1ABA-2170-4D94-B952-059073DC1E09}" dt="2026-01-17T04:32:53.386" v="1230" actId="20577"/>
        <pc:sldMkLst>
          <pc:docMk/>
          <pc:sldMk cId="305887258" sldId="309"/>
        </pc:sldMkLst>
        <pc:graphicFrameChg chg="mod modGraphic">
          <ac:chgData name="RONICE MAMELEM DJANZE" userId="1e1b114c329216fc" providerId="LiveId" clId="{410A1ABA-2170-4D94-B952-059073DC1E09}" dt="2026-01-17T04:32:53.386" v="1230" actId="20577"/>
          <ac:graphicFrameMkLst>
            <pc:docMk/>
            <pc:sldMk cId="305887258" sldId="309"/>
            <ac:graphicFrameMk id="4" creationId="{5F2DED42-1EC9-4490-B603-DF589D3980F4}"/>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DB329F-4065-432C-B682-CA726641CCEF}"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fr-CM"/>
        </a:p>
      </dgm:t>
    </dgm:pt>
    <dgm:pt modelId="{B24B05AE-1004-4151-AB0D-0438FA5A8951}">
      <dgm:prSet phldrT="[Texte]" custT="1"/>
      <dgm:spPr/>
      <dgm:t>
        <a:bodyPr/>
        <a:lstStyle/>
        <a:p>
          <a:r>
            <a:rPr lang="fr-CM" sz="2800" dirty="0"/>
            <a:t>Introduction</a:t>
          </a:r>
        </a:p>
      </dgm:t>
    </dgm:pt>
    <dgm:pt modelId="{3D45F891-8F72-4D5B-AB89-E7FEAD2D12ED}" type="parTrans" cxnId="{07B5CE2B-DB87-4DE4-BF44-AB09C62DA9D8}">
      <dgm:prSet/>
      <dgm:spPr/>
      <dgm:t>
        <a:bodyPr/>
        <a:lstStyle/>
        <a:p>
          <a:endParaRPr lang="fr-CM"/>
        </a:p>
      </dgm:t>
    </dgm:pt>
    <dgm:pt modelId="{FA5ED5D1-2A56-41F0-AF45-0174656B288E}" type="sibTrans" cxnId="{07B5CE2B-DB87-4DE4-BF44-AB09C62DA9D8}">
      <dgm:prSet/>
      <dgm:spPr/>
      <dgm:t>
        <a:bodyPr/>
        <a:lstStyle/>
        <a:p>
          <a:endParaRPr lang="fr-CM"/>
        </a:p>
      </dgm:t>
    </dgm:pt>
    <dgm:pt modelId="{BB194F24-D1C3-4C9E-B13A-B652AE15C053}">
      <dgm:prSet phldrT="[Texte]" custT="1"/>
      <dgm:spPr/>
      <dgm:t>
        <a:bodyPr/>
        <a:lstStyle/>
        <a:p>
          <a:r>
            <a:rPr lang="fr-CM" sz="2800" dirty="0"/>
            <a:t>Objectifs du projet</a:t>
          </a:r>
        </a:p>
      </dgm:t>
    </dgm:pt>
    <dgm:pt modelId="{47E836D5-32FF-4DED-8629-661D95BB6936}" type="parTrans" cxnId="{0EBE3338-F1E0-45E9-A363-EDD3183958B0}">
      <dgm:prSet/>
      <dgm:spPr/>
      <dgm:t>
        <a:bodyPr/>
        <a:lstStyle/>
        <a:p>
          <a:endParaRPr lang="fr-CM"/>
        </a:p>
      </dgm:t>
    </dgm:pt>
    <dgm:pt modelId="{BA16A902-41DD-4E57-83FA-B3F5DF010EF6}" type="sibTrans" cxnId="{0EBE3338-F1E0-45E9-A363-EDD3183958B0}">
      <dgm:prSet/>
      <dgm:spPr/>
      <dgm:t>
        <a:bodyPr/>
        <a:lstStyle/>
        <a:p>
          <a:endParaRPr lang="fr-CM"/>
        </a:p>
      </dgm:t>
    </dgm:pt>
    <dgm:pt modelId="{65B94091-FC3D-40B8-B39C-FB6A99435985}">
      <dgm:prSet phldrT="[Texte]" custT="1"/>
      <dgm:spPr/>
      <dgm:t>
        <a:bodyPr/>
        <a:lstStyle/>
        <a:p>
          <a:r>
            <a:rPr lang="fr-CM" sz="2800" dirty="0">
              <a:latin typeface="Times New Roman" panose="02020603050405020304" pitchFamily="18" charset="0"/>
              <a:cs typeface="Times New Roman" panose="02020603050405020304" pitchFamily="18" charset="0"/>
            </a:rPr>
            <a:t>Besoins fonctionnels</a:t>
          </a:r>
        </a:p>
      </dgm:t>
    </dgm:pt>
    <dgm:pt modelId="{96B00C6D-4D67-4868-8482-8954B3EFFE6B}" type="parTrans" cxnId="{C58D5989-C298-4BFE-85EF-D13575E2648D}">
      <dgm:prSet/>
      <dgm:spPr/>
      <dgm:t>
        <a:bodyPr/>
        <a:lstStyle/>
        <a:p>
          <a:endParaRPr lang="fr-CM"/>
        </a:p>
      </dgm:t>
    </dgm:pt>
    <dgm:pt modelId="{A89FB081-2362-4F4C-903E-51F2E1876045}" type="sibTrans" cxnId="{C58D5989-C298-4BFE-85EF-D13575E2648D}">
      <dgm:prSet/>
      <dgm:spPr/>
      <dgm:t>
        <a:bodyPr/>
        <a:lstStyle/>
        <a:p>
          <a:endParaRPr lang="fr-CM"/>
        </a:p>
      </dgm:t>
    </dgm:pt>
    <dgm:pt modelId="{98F2CA81-370E-4EF6-9FC9-5E1CA44B99CC}">
      <dgm:prSet phldrT="[Texte]" custT="1"/>
      <dgm:spPr/>
      <dgm:t>
        <a:bodyPr/>
        <a:lstStyle/>
        <a:p>
          <a:r>
            <a:rPr lang="fr-FR" sz="2800" dirty="0">
              <a:latin typeface="Times New Roman" panose="02020603050405020304" pitchFamily="18" charset="0"/>
              <a:cs typeface="Times New Roman" panose="02020603050405020304" pitchFamily="18" charset="0"/>
            </a:rPr>
            <a:t>Diagramme de cas d'utilisation</a:t>
          </a:r>
          <a:endParaRPr lang="fr-CM" sz="2800" dirty="0">
            <a:latin typeface="Times New Roman" panose="02020603050405020304" pitchFamily="18" charset="0"/>
            <a:cs typeface="Times New Roman" panose="02020603050405020304" pitchFamily="18" charset="0"/>
          </a:endParaRPr>
        </a:p>
      </dgm:t>
    </dgm:pt>
    <dgm:pt modelId="{06366437-B934-4A65-86E0-248C02834584}" type="parTrans" cxnId="{47BBC617-CB8D-4A8D-8507-6F041653A604}">
      <dgm:prSet/>
      <dgm:spPr/>
      <dgm:t>
        <a:bodyPr/>
        <a:lstStyle/>
        <a:p>
          <a:endParaRPr lang="fr-CM"/>
        </a:p>
      </dgm:t>
    </dgm:pt>
    <dgm:pt modelId="{8014D649-1CDC-4666-BA8F-9DDD6DC68EAC}" type="sibTrans" cxnId="{47BBC617-CB8D-4A8D-8507-6F041653A604}">
      <dgm:prSet/>
      <dgm:spPr/>
      <dgm:t>
        <a:bodyPr/>
        <a:lstStyle/>
        <a:p>
          <a:endParaRPr lang="fr-CM"/>
        </a:p>
      </dgm:t>
    </dgm:pt>
    <dgm:pt modelId="{DFAC2611-8F1A-404A-9D04-078A608AE714}">
      <dgm:prSet phldrT="[Texte]" custT="1"/>
      <dgm:spPr/>
      <dgm:t>
        <a:bodyPr/>
        <a:lstStyle/>
        <a:p>
          <a:r>
            <a:rPr lang="fr-FR" sz="2800" dirty="0">
              <a:latin typeface="Times New Roman" panose="02020603050405020304" pitchFamily="18" charset="0"/>
              <a:cs typeface="Times New Roman" panose="02020603050405020304" pitchFamily="18" charset="0"/>
            </a:rPr>
            <a:t>Description de cas d'utilisation</a:t>
          </a:r>
          <a:endParaRPr lang="fr-CM" sz="2800" dirty="0">
            <a:latin typeface="Times New Roman" panose="02020603050405020304" pitchFamily="18" charset="0"/>
            <a:cs typeface="Times New Roman" panose="02020603050405020304" pitchFamily="18" charset="0"/>
          </a:endParaRPr>
        </a:p>
      </dgm:t>
    </dgm:pt>
    <dgm:pt modelId="{93600AB8-1E4A-42C5-8523-FD49A0F2E54A}" type="parTrans" cxnId="{49CDE869-3E51-4CDC-BDB1-F91A78DB08A1}">
      <dgm:prSet/>
      <dgm:spPr/>
      <dgm:t>
        <a:bodyPr/>
        <a:lstStyle/>
        <a:p>
          <a:endParaRPr lang="fr-CM"/>
        </a:p>
      </dgm:t>
    </dgm:pt>
    <dgm:pt modelId="{A045F401-31A0-4C6B-AB9E-B7FAF4F11E7D}" type="sibTrans" cxnId="{49CDE869-3E51-4CDC-BDB1-F91A78DB08A1}">
      <dgm:prSet/>
      <dgm:spPr/>
      <dgm:t>
        <a:bodyPr/>
        <a:lstStyle/>
        <a:p>
          <a:endParaRPr lang="fr-CM"/>
        </a:p>
      </dgm:t>
    </dgm:pt>
    <dgm:pt modelId="{1A8EA902-9E30-42F3-BDE6-48AA0CF23798}">
      <dgm:prSet phldrT="[Texte]" custT="1"/>
      <dgm:spPr/>
      <dgm:t>
        <a:bodyPr/>
        <a:lstStyle/>
        <a:p>
          <a:r>
            <a:rPr lang="fr-CM" sz="2800" dirty="0">
              <a:latin typeface="Times New Roman" panose="02020603050405020304" pitchFamily="18" charset="0"/>
              <a:cs typeface="Times New Roman" panose="02020603050405020304" pitchFamily="18" charset="0"/>
            </a:rPr>
            <a:t>Conclusion</a:t>
          </a:r>
        </a:p>
      </dgm:t>
    </dgm:pt>
    <dgm:pt modelId="{CD680D16-FE11-449D-B4A0-D85F7B3B10F4}" type="parTrans" cxnId="{E3D3AAC3-9F91-4F12-B999-761282694BB9}">
      <dgm:prSet/>
      <dgm:spPr/>
      <dgm:t>
        <a:bodyPr/>
        <a:lstStyle/>
        <a:p>
          <a:endParaRPr lang="fr-CM"/>
        </a:p>
      </dgm:t>
    </dgm:pt>
    <dgm:pt modelId="{E0726676-1091-4FB7-A0B6-91495A8A61B2}" type="sibTrans" cxnId="{E3D3AAC3-9F91-4F12-B999-761282694BB9}">
      <dgm:prSet/>
      <dgm:spPr/>
      <dgm:t>
        <a:bodyPr/>
        <a:lstStyle/>
        <a:p>
          <a:endParaRPr lang="fr-CM"/>
        </a:p>
      </dgm:t>
    </dgm:pt>
    <dgm:pt modelId="{0612F2BF-0BAF-4524-BC14-DF727BF76BC1}" type="pres">
      <dgm:prSet presAssocID="{46DB329F-4065-432C-B682-CA726641CCEF}" presName="diagram" presStyleCnt="0">
        <dgm:presLayoutVars>
          <dgm:dir/>
          <dgm:resizeHandles val="exact"/>
        </dgm:presLayoutVars>
      </dgm:prSet>
      <dgm:spPr/>
    </dgm:pt>
    <dgm:pt modelId="{3412A839-35A0-4DDF-AEF2-CA2F2DD6BD87}" type="pres">
      <dgm:prSet presAssocID="{B24B05AE-1004-4151-AB0D-0438FA5A8951}" presName="node" presStyleLbl="node1" presStyleIdx="0" presStyleCnt="6">
        <dgm:presLayoutVars>
          <dgm:bulletEnabled val="1"/>
        </dgm:presLayoutVars>
      </dgm:prSet>
      <dgm:spPr/>
    </dgm:pt>
    <dgm:pt modelId="{26DB8B94-6157-416B-8339-BA81A5D420EE}" type="pres">
      <dgm:prSet presAssocID="{FA5ED5D1-2A56-41F0-AF45-0174656B288E}" presName="sibTrans" presStyleLbl="sibTrans2D1" presStyleIdx="0" presStyleCnt="5"/>
      <dgm:spPr/>
    </dgm:pt>
    <dgm:pt modelId="{F80F3A6C-5509-4578-905D-1E3544B33549}" type="pres">
      <dgm:prSet presAssocID="{FA5ED5D1-2A56-41F0-AF45-0174656B288E}" presName="connectorText" presStyleLbl="sibTrans2D1" presStyleIdx="0" presStyleCnt="5"/>
      <dgm:spPr/>
    </dgm:pt>
    <dgm:pt modelId="{8427B0A2-E7F9-473C-A3C8-1E93B7345FCD}" type="pres">
      <dgm:prSet presAssocID="{BB194F24-D1C3-4C9E-B13A-B652AE15C053}" presName="node" presStyleLbl="node1" presStyleIdx="1" presStyleCnt="6" custScaleX="118921">
        <dgm:presLayoutVars>
          <dgm:bulletEnabled val="1"/>
        </dgm:presLayoutVars>
      </dgm:prSet>
      <dgm:spPr/>
    </dgm:pt>
    <dgm:pt modelId="{6DDD0369-1C4C-4C35-9CD2-17CE723817D5}" type="pres">
      <dgm:prSet presAssocID="{BA16A902-41DD-4E57-83FA-B3F5DF010EF6}" presName="sibTrans" presStyleLbl="sibTrans2D1" presStyleIdx="1" presStyleCnt="5"/>
      <dgm:spPr/>
    </dgm:pt>
    <dgm:pt modelId="{011DB005-22E0-4FD2-9176-17F361F35AE6}" type="pres">
      <dgm:prSet presAssocID="{BA16A902-41DD-4E57-83FA-B3F5DF010EF6}" presName="connectorText" presStyleLbl="sibTrans2D1" presStyleIdx="1" presStyleCnt="5"/>
      <dgm:spPr/>
    </dgm:pt>
    <dgm:pt modelId="{0CE6B18D-D97F-469E-8A25-AB75756C1462}" type="pres">
      <dgm:prSet presAssocID="{65B94091-FC3D-40B8-B39C-FB6A99435985}" presName="node" presStyleLbl="node1" presStyleIdx="2" presStyleCnt="6">
        <dgm:presLayoutVars>
          <dgm:bulletEnabled val="1"/>
        </dgm:presLayoutVars>
      </dgm:prSet>
      <dgm:spPr/>
    </dgm:pt>
    <dgm:pt modelId="{84265C8C-FE9A-41DA-A9CC-2804226E0E0B}" type="pres">
      <dgm:prSet presAssocID="{A89FB081-2362-4F4C-903E-51F2E1876045}" presName="sibTrans" presStyleLbl="sibTrans2D1" presStyleIdx="2" presStyleCnt="5"/>
      <dgm:spPr/>
    </dgm:pt>
    <dgm:pt modelId="{83B51923-A40D-48CC-8FC8-5856B24DAD6B}" type="pres">
      <dgm:prSet presAssocID="{A89FB081-2362-4F4C-903E-51F2E1876045}" presName="connectorText" presStyleLbl="sibTrans2D1" presStyleIdx="2" presStyleCnt="5"/>
      <dgm:spPr/>
    </dgm:pt>
    <dgm:pt modelId="{1878E6A2-730B-432D-8D64-B9C33E6CA09C}" type="pres">
      <dgm:prSet presAssocID="{98F2CA81-370E-4EF6-9FC9-5E1CA44B99CC}" presName="node" presStyleLbl="node1" presStyleIdx="3" presStyleCnt="6">
        <dgm:presLayoutVars>
          <dgm:bulletEnabled val="1"/>
        </dgm:presLayoutVars>
      </dgm:prSet>
      <dgm:spPr/>
    </dgm:pt>
    <dgm:pt modelId="{90FAD519-ADB6-4382-9053-ED6BC025ADE9}" type="pres">
      <dgm:prSet presAssocID="{8014D649-1CDC-4666-BA8F-9DDD6DC68EAC}" presName="sibTrans" presStyleLbl="sibTrans2D1" presStyleIdx="3" presStyleCnt="5"/>
      <dgm:spPr/>
    </dgm:pt>
    <dgm:pt modelId="{F7726F00-AD15-4C7F-8479-DA73FE8D19AE}" type="pres">
      <dgm:prSet presAssocID="{8014D649-1CDC-4666-BA8F-9DDD6DC68EAC}" presName="connectorText" presStyleLbl="sibTrans2D1" presStyleIdx="3" presStyleCnt="5"/>
      <dgm:spPr/>
    </dgm:pt>
    <dgm:pt modelId="{6BB50A06-BA1E-4120-AF2B-B1103ED2CA45}" type="pres">
      <dgm:prSet presAssocID="{DFAC2611-8F1A-404A-9D04-078A608AE714}" presName="node" presStyleLbl="node1" presStyleIdx="4" presStyleCnt="6">
        <dgm:presLayoutVars>
          <dgm:bulletEnabled val="1"/>
        </dgm:presLayoutVars>
      </dgm:prSet>
      <dgm:spPr/>
    </dgm:pt>
    <dgm:pt modelId="{0E342CEE-59D8-44A6-B48B-9FB8EE1A6AE9}" type="pres">
      <dgm:prSet presAssocID="{A045F401-31A0-4C6B-AB9E-B7FAF4F11E7D}" presName="sibTrans" presStyleLbl="sibTrans2D1" presStyleIdx="4" presStyleCnt="5"/>
      <dgm:spPr/>
    </dgm:pt>
    <dgm:pt modelId="{BC93430B-5714-4331-9C79-770F0815D8D2}" type="pres">
      <dgm:prSet presAssocID="{A045F401-31A0-4C6B-AB9E-B7FAF4F11E7D}" presName="connectorText" presStyleLbl="sibTrans2D1" presStyleIdx="4" presStyleCnt="5"/>
      <dgm:spPr/>
    </dgm:pt>
    <dgm:pt modelId="{CDB92376-0AF7-453F-BE0B-197A8E2B5546}" type="pres">
      <dgm:prSet presAssocID="{1A8EA902-9E30-42F3-BDE6-48AA0CF23798}" presName="node" presStyleLbl="node1" presStyleIdx="5" presStyleCnt="6">
        <dgm:presLayoutVars>
          <dgm:bulletEnabled val="1"/>
        </dgm:presLayoutVars>
      </dgm:prSet>
      <dgm:spPr/>
    </dgm:pt>
  </dgm:ptLst>
  <dgm:cxnLst>
    <dgm:cxn modelId="{47BBC617-CB8D-4A8D-8507-6F041653A604}" srcId="{46DB329F-4065-432C-B682-CA726641CCEF}" destId="{98F2CA81-370E-4EF6-9FC9-5E1CA44B99CC}" srcOrd="3" destOrd="0" parTransId="{06366437-B934-4A65-86E0-248C02834584}" sibTransId="{8014D649-1CDC-4666-BA8F-9DDD6DC68EAC}"/>
    <dgm:cxn modelId="{60492525-87C2-4C50-90C2-A4B350458D4B}" type="presOf" srcId="{A045F401-31A0-4C6B-AB9E-B7FAF4F11E7D}" destId="{BC93430B-5714-4331-9C79-770F0815D8D2}" srcOrd="1" destOrd="0" presId="urn:microsoft.com/office/officeart/2005/8/layout/process5"/>
    <dgm:cxn modelId="{07B5CE2B-DB87-4DE4-BF44-AB09C62DA9D8}" srcId="{46DB329F-4065-432C-B682-CA726641CCEF}" destId="{B24B05AE-1004-4151-AB0D-0438FA5A8951}" srcOrd="0" destOrd="0" parTransId="{3D45F891-8F72-4D5B-AB89-E7FEAD2D12ED}" sibTransId="{FA5ED5D1-2A56-41F0-AF45-0174656B288E}"/>
    <dgm:cxn modelId="{5E859B2E-CE9B-417B-B106-D5A2F939D8E6}" type="presOf" srcId="{1A8EA902-9E30-42F3-BDE6-48AA0CF23798}" destId="{CDB92376-0AF7-453F-BE0B-197A8E2B5546}" srcOrd="0" destOrd="0" presId="urn:microsoft.com/office/officeart/2005/8/layout/process5"/>
    <dgm:cxn modelId="{0EBE3338-F1E0-45E9-A363-EDD3183958B0}" srcId="{46DB329F-4065-432C-B682-CA726641CCEF}" destId="{BB194F24-D1C3-4C9E-B13A-B652AE15C053}" srcOrd="1" destOrd="0" parTransId="{47E836D5-32FF-4DED-8629-661D95BB6936}" sibTransId="{BA16A902-41DD-4E57-83FA-B3F5DF010EF6}"/>
    <dgm:cxn modelId="{BED39E49-9925-431D-ABA2-D515053CE53F}" type="presOf" srcId="{A045F401-31A0-4C6B-AB9E-B7FAF4F11E7D}" destId="{0E342CEE-59D8-44A6-B48B-9FB8EE1A6AE9}" srcOrd="0" destOrd="0" presId="urn:microsoft.com/office/officeart/2005/8/layout/process5"/>
    <dgm:cxn modelId="{49CDE869-3E51-4CDC-BDB1-F91A78DB08A1}" srcId="{46DB329F-4065-432C-B682-CA726641CCEF}" destId="{DFAC2611-8F1A-404A-9D04-078A608AE714}" srcOrd="4" destOrd="0" parTransId="{93600AB8-1E4A-42C5-8523-FD49A0F2E54A}" sibTransId="{A045F401-31A0-4C6B-AB9E-B7FAF4F11E7D}"/>
    <dgm:cxn modelId="{BBC8EC69-CFCA-4053-85E2-58C9E4EDC68D}" type="presOf" srcId="{65B94091-FC3D-40B8-B39C-FB6A99435985}" destId="{0CE6B18D-D97F-469E-8A25-AB75756C1462}" srcOrd="0" destOrd="0" presId="urn:microsoft.com/office/officeart/2005/8/layout/process5"/>
    <dgm:cxn modelId="{C787CE4D-97CC-4C4A-AE69-07F9C9560808}" type="presOf" srcId="{FA5ED5D1-2A56-41F0-AF45-0174656B288E}" destId="{26DB8B94-6157-416B-8339-BA81A5D420EE}" srcOrd="0" destOrd="0" presId="urn:microsoft.com/office/officeart/2005/8/layout/process5"/>
    <dgm:cxn modelId="{C600A176-2013-42EA-8FD5-AEA217DAE2EA}" type="presOf" srcId="{BA16A902-41DD-4E57-83FA-B3F5DF010EF6}" destId="{6DDD0369-1C4C-4C35-9CD2-17CE723817D5}" srcOrd="0" destOrd="0" presId="urn:microsoft.com/office/officeart/2005/8/layout/process5"/>
    <dgm:cxn modelId="{3ED5A77B-1E8B-436F-96FD-179B5D283541}" type="presOf" srcId="{98F2CA81-370E-4EF6-9FC9-5E1CA44B99CC}" destId="{1878E6A2-730B-432D-8D64-B9C33E6CA09C}" srcOrd="0" destOrd="0" presId="urn:microsoft.com/office/officeart/2005/8/layout/process5"/>
    <dgm:cxn modelId="{BD2BD97B-0F1C-49F6-84F3-156F71B082F3}" type="presOf" srcId="{8014D649-1CDC-4666-BA8F-9DDD6DC68EAC}" destId="{F7726F00-AD15-4C7F-8479-DA73FE8D19AE}" srcOrd="1" destOrd="0" presId="urn:microsoft.com/office/officeart/2005/8/layout/process5"/>
    <dgm:cxn modelId="{0C1E7685-EDE7-44F7-9F11-281ADF0BBED0}" type="presOf" srcId="{FA5ED5D1-2A56-41F0-AF45-0174656B288E}" destId="{F80F3A6C-5509-4578-905D-1E3544B33549}" srcOrd="1" destOrd="0" presId="urn:microsoft.com/office/officeart/2005/8/layout/process5"/>
    <dgm:cxn modelId="{C58D5989-C298-4BFE-85EF-D13575E2648D}" srcId="{46DB329F-4065-432C-B682-CA726641CCEF}" destId="{65B94091-FC3D-40B8-B39C-FB6A99435985}" srcOrd="2" destOrd="0" parTransId="{96B00C6D-4D67-4868-8482-8954B3EFFE6B}" sibTransId="{A89FB081-2362-4F4C-903E-51F2E1876045}"/>
    <dgm:cxn modelId="{20EC0C96-9DC2-45A5-9134-62FFED4C4AE4}" type="presOf" srcId="{A89FB081-2362-4F4C-903E-51F2E1876045}" destId="{83B51923-A40D-48CC-8FC8-5856B24DAD6B}" srcOrd="1" destOrd="0" presId="urn:microsoft.com/office/officeart/2005/8/layout/process5"/>
    <dgm:cxn modelId="{F0651EA3-10A9-4492-826C-16D6579412FD}" type="presOf" srcId="{8014D649-1CDC-4666-BA8F-9DDD6DC68EAC}" destId="{90FAD519-ADB6-4382-9053-ED6BC025ADE9}" srcOrd="0" destOrd="0" presId="urn:microsoft.com/office/officeart/2005/8/layout/process5"/>
    <dgm:cxn modelId="{83C1FCA7-5A8C-4483-87D9-5DCB2F2D4149}" type="presOf" srcId="{A89FB081-2362-4F4C-903E-51F2E1876045}" destId="{84265C8C-FE9A-41DA-A9CC-2804226E0E0B}" srcOrd="0" destOrd="0" presId="urn:microsoft.com/office/officeart/2005/8/layout/process5"/>
    <dgm:cxn modelId="{E3D3AAC3-9F91-4F12-B999-761282694BB9}" srcId="{46DB329F-4065-432C-B682-CA726641CCEF}" destId="{1A8EA902-9E30-42F3-BDE6-48AA0CF23798}" srcOrd="5" destOrd="0" parTransId="{CD680D16-FE11-449D-B4A0-D85F7B3B10F4}" sibTransId="{E0726676-1091-4FB7-A0B6-91495A8A61B2}"/>
    <dgm:cxn modelId="{52A84CC6-9EC3-4AEA-8254-ADE3C5B54E19}" type="presOf" srcId="{46DB329F-4065-432C-B682-CA726641CCEF}" destId="{0612F2BF-0BAF-4524-BC14-DF727BF76BC1}" srcOrd="0" destOrd="0" presId="urn:microsoft.com/office/officeart/2005/8/layout/process5"/>
    <dgm:cxn modelId="{4ACD1ECC-D212-40B9-A059-72C6BC5B6693}" type="presOf" srcId="{BA16A902-41DD-4E57-83FA-B3F5DF010EF6}" destId="{011DB005-22E0-4FD2-9176-17F361F35AE6}" srcOrd="1" destOrd="0" presId="urn:microsoft.com/office/officeart/2005/8/layout/process5"/>
    <dgm:cxn modelId="{198EB6D6-B172-4F0B-B588-6ABF23DB2CF5}" type="presOf" srcId="{DFAC2611-8F1A-404A-9D04-078A608AE714}" destId="{6BB50A06-BA1E-4120-AF2B-B1103ED2CA45}" srcOrd="0" destOrd="0" presId="urn:microsoft.com/office/officeart/2005/8/layout/process5"/>
    <dgm:cxn modelId="{19D051DE-551C-416E-AFD1-472EBEA3BCF6}" type="presOf" srcId="{B24B05AE-1004-4151-AB0D-0438FA5A8951}" destId="{3412A839-35A0-4DDF-AEF2-CA2F2DD6BD87}" srcOrd="0" destOrd="0" presId="urn:microsoft.com/office/officeart/2005/8/layout/process5"/>
    <dgm:cxn modelId="{992BFCEE-4593-4A47-89E4-5C0902628117}" type="presOf" srcId="{BB194F24-D1C3-4C9E-B13A-B652AE15C053}" destId="{8427B0A2-E7F9-473C-A3C8-1E93B7345FCD}" srcOrd="0" destOrd="0" presId="urn:microsoft.com/office/officeart/2005/8/layout/process5"/>
    <dgm:cxn modelId="{BF885E3C-2546-4C19-B69B-A4312AEABD18}" type="presParOf" srcId="{0612F2BF-0BAF-4524-BC14-DF727BF76BC1}" destId="{3412A839-35A0-4DDF-AEF2-CA2F2DD6BD87}" srcOrd="0" destOrd="0" presId="urn:microsoft.com/office/officeart/2005/8/layout/process5"/>
    <dgm:cxn modelId="{2A0C6F36-9BFA-422C-A39D-1917F59027A6}" type="presParOf" srcId="{0612F2BF-0BAF-4524-BC14-DF727BF76BC1}" destId="{26DB8B94-6157-416B-8339-BA81A5D420EE}" srcOrd="1" destOrd="0" presId="urn:microsoft.com/office/officeart/2005/8/layout/process5"/>
    <dgm:cxn modelId="{CD05F521-DB63-4270-87A9-CBBD13162A9E}" type="presParOf" srcId="{26DB8B94-6157-416B-8339-BA81A5D420EE}" destId="{F80F3A6C-5509-4578-905D-1E3544B33549}" srcOrd="0" destOrd="0" presId="urn:microsoft.com/office/officeart/2005/8/layout/process5"/>
    <dgm:cxn modelId="{2CD7DD42-5900-4252-86FF-B53D6EB24046}" type="presParOf" srcId="{0612F2BF-0BAF-4524-BC14-DF727BF76BC1}" destId="{8427B0A2-E7F9-473C-A3C8-1E93B7345FCD}" srcOrd="2" destOrd="0" presId="urn:microsoft.com/office/officeart/2005/8/layout/process5"/>
    <dgm:cxn modelId="{D0E4A0FF-BA3C-402F-82EB-64EAAE07F313}" type="presParOf" srcId="{0612F2BF-0BAF-4524-BC14-DF727BF76BC1}" destId="{6DDD0369-1C4C-4C35-9CD2-17CE723817D5}" srcOrd="3" destOrd="0" presId="urn:microsoft.com/office/officeart/2005/8/layout/process5"/>
    <dgm:cxn modelId="{9B34266D-A3B2-4151-AA87-61554C130244}" type="presParOf" srcId="{6DDD0369-1C4C-4C35-9CD2-17CE723817D5}" destId="{011DB005-22E0-4FD2-9176-17F361F35AE6}" srcOrd="0" destOrd="0" presId="urn:microsoft.com/office/officeart/2005/8/layout/process5"/>
    <dgm:cxn modelId="{1EE9EBDA-4898-40AB-903C-0F24B9C24438}" type="presParOf" srcId="{0612F2BF-0BAF-4524-BC14-DF727BF76BC1}" destId="{0CE6B18D-D97F-469E-8A25-AB75756C1462}" srcOrd="4" destOrd="0" presId="urn:microsoft.com/office/officeart/2005/8/layout/process5"/>
    <dgm:cxn modelId="{2B0F70D9-BFF3-4140-A060-7F414B5E4FA3}" type="presParOf" srcId="{0612F2BF-0BAF-4524-BC14-DF727BF76BC1}" destId="{84265C8C-FE9A-41DA-A9CC-2804226E0E0B}" srcOrd="5" destOrd="0" presId="urn:microsoft.com/office/officeart/2005/8/layout/process5"/>
    <dgm:cxn modelId="{D99BD24A-774E-4BF7-80D0-BFDC44648B5C}" type="presParOf" srcId="{84265C8C-FE9A-41DA-A9CC-2804226E0E0B}" destId="{83B51923-A40D-48CC-8FC8-5856B24DAD6B}" srcOrd="0" destOrd="0" presId="urn:microsoft.com/office/officeart/2005/8/layout/process5"/>
    <dgm:cxn modelId="{EC742F6F-4872-4269-8086-4BB0583C6589}" type="presParOf" srcId="{0612F2BF-0BAF-4524-BC14-DF727BF76BC1}" destId="{1878E6A2-730B-432D-8D64-B9C33E6CA09C}" srcOrd="6" destOrd="0" presId="urn:microsoft.com/office/officeart/2005/8/layout/process5"/>
    <dgm:cxn modelId="{85755B6B-0397-4BF2-BF62-1D3380F6578F}" type="presParOf" srcId="{0612F2BF-0BAF-4524-BC14-DF727BF76BC1}" destId="{90FAD519-ADB6-4382-9053-ED6BC025ADE9}" srcOrd="7" destOrd="0" presId="urn:microsoft.com/office/officeart/2005/8/layout/process5"/>
    <dgm:cxn modelId="{067FFC24-0FB8-4C87-8A42-428FB6954EBE}" type="presParOf" srcId="{90FAD519-ADB6-4382-9053-ED6BC025ADE9}" destId="{F7726F00-AD15-4C7F-8479-DA73FE8D19AE}" srcOrd="0" destOrd="0" presId="urn:microsoft.com/office/officeart/2005/8/layout/process5"/>
    <dgm:cxn modelId="{191CD753-ED7A-49AA-91E3-02F72E623955}" type="presParOf" srcId="{0612F2BF-0BAF-4524-BC14-DF727BF76BC1}" destId="{6BB50A06-BA1E-4120-AF2B-B1103ED2CA45}" srcOrd="8" destOrd="0" presId="urn:microsoft.com/office/officeart/2005/8/layout/process5"/>
    <dgm:cxn modelId="{B01CE361-9DF5-41EE-8C16-A2646773AC76}" type="presParOf" srcId="{0612F2BF-0BAF-4524-BC14-DF727BF76BC1}" destId="{0E342CEE-59D8-44A6-B48B-9FB8EE1A6AE9}" srcOrd="9" destOrd="0" presId="urn:microsoft.com/office/officeart/2005/8/layout/process5"/>
    <dgm:cxn modelId="{8BFC74AC-9CD3-434E-ABC3-FF808F21CB10}" type="presParOf" srcId="{0E342CEE-59D8-44A6-B48B-9FB8EE1A6AE9}" destId="{BC93430B-5714-4331-9C79-770F0815D8D2}" srcOrd="0" destOrd="0" presId="urn:microsoft.com/office/officeart/2005/8/layout/process5"/>
    <dgm:cxn modelId="{288D1F20-E4B9-45EC-B0EC-5169E3DF2E92}" type="presParOf" srcId="{0612F2BF-0BAF-4524-BC14-DF727BF76BC1}" destId="{CDB92376-0AF7-453F-BE0B-197A8E2B5546}" srcOrd="1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BC9DEB-8377-4386-AE7D-FD4B94764354}" type="doc">
      <dgm:prSet loTypeId="urn:microsoft.com/office/officeart/2008/layout/VerticalCurvedList" loCatId="list" qsTypeId="urn:microsoft.com/office/officeart/2005/8/quickstyle/simple5" qsCatId="simple" csTypeId="urn:microsoft.com/office/officeart/2005/8/colors/accent1_4" csCatId="accent1" phldr="1"/>
      <dgm:spPr/>
      <dgm:t>
        <a:bodyPr/>
        <a:lstStyle/>
        <a:p>
          <a:endParaRPr lang="fr-CM"/>
        </a:p>
      </dgm:t>
    </dgm:pt>
    <dgm:pt modelId="{CAD5F479-9349-4A5D-B19B-6AA1FCA250BE}">
      <dgm:prSet/>
      <dgm:spPr/>
      <dgm:t>
        <a:bodyPr/>
        <a:lstStyle/>
        <a:p>
          <a:r>
            <a:rPr lang="fr-CM" dirty="0"/>
            <a:t>Afficher la liste des projets</a:t>
          </a:r>
        </a:p>
      </dgm:t>
    </dgm:pt>
    <dgm:pt modelId="{2540A25B-B99E-4DCE-913A-CF37A9937E95}" type="parTrans" cxnId="{5663AA01-6B8D-4AEC-9F1D-81501F462859}">
      <dgm:prSet/>
      <dgm:spPr/>
      <dgm:t>
        <a:bodyPr/>
        <a:lstStyle/>
        <a:p>
          <a:endParaRPr lang="fr-CM"/>
        </a:p>
      </dgm:t>
    </dgm:pt>
    <dgm:pt modelId="{8D4D8076-0B20-46E1-BB43-1DA332703004}" type="sibTrans" cxnId="{5663AA01-6B8D-4AEC-9F1D-81501F462859}">
      <dgm:prSet/>
      <dgm:spPr/>
      <dgm:t>
        <a:bodyPr/>
        <a:lstStyle/>
        <a:p>
          <a:endParaRPr lang="fr-CM"/>
        </a:p>
      </dgm:t>
    </dgm:pt>
    <dgm:pt modelId="{B32AFF46-CF82-4909-B693-2C5CB4483D70}">
      <dgm:prSet/>
      <dgm:spPr/>
      <dgm:t>
        <a:bodyPr/>
        <a:lstStyle/>
        <a:p>
          <a:r>
            <a:rPr lang="fr-CM" dirty="0"/>
            <a:t>Afficher</a:t>
          </a:r>
          <a:r>
            <a:rPr lang="fr-CM" baseline="0" dirty="0"/>
            <a:t> les détails d’un projet</a:t>
          </a:r>
          <a:endParaRPr lang="fr-CM" dirty="0"/>
        </a:p>
      </dgm:t>
    </dgm:pt>
    <dgm:pt modelId="{E9F715D9-CFBF-41EE-AE99-CF31CBA76980}" type="parTrans" cxnId="{C2768688-D621-45EC-B474-185060A23306}">
      <dgm:prSet/>
      <dgm:spPr/>
      <dgm:t>
        <a:bodyPr/>
        <a:lstStyle/>
        <a:p>
          <a:endParaRPr lang="fr-CM"/>
        </a:p>
      </dgm:t>
    </dgm:pt>
    <dgm:pt modelId="{A5E2ECD5-ECD9-469D-A1F8-04E3265DE5CA}" type="sibTrans" cxnId="{C2768688-D621-45EC-B474-185060A23306}">
      <dgm:prSet/>
      <dgm:spPr/>
      <dgm:t>
        <a:bodyPr/>
        <a:lstStyle/>
        <a:p>
          <a:endParaRPr lang="fr-CM"/>
        </a:p>
      </dgm:t>
    </dgm:pt>
    <dgm:pt modelId="{87B80AA0-7B7C-4979-BB40-7E7BFDB2267D}">
      <dgm:prSet/>
      <dgm:spPr/>
      <dgm:t>
        <a:bodyPr/>
        <a:lstStyle/>
        <a:p>
          <a:r>
            <a:rPr lang="fr-CM" dirty="0"/>
            <a:t>Afficher</a:t>
          </a:r>
          <a:r>
            <a:rPr lang="fr-CM" baseline="0" dirty="0"/>
            <a:t> les métriques d’une ressource</a:t>
          </a:r>
          <a:endParaRPr lang="fr-CM" dirty="0"/>
        </a:p>
      </dgm:t>
    </dgm:pt>
    <dgm:pt modelId="{D9A5312C-7FFB-446A-B5ED-A15933DF0479}" type="parTrans" cxnId="{95C2DDCD-906D-4AD7-8306-97F1B0DDC09F}">
      <dgm:prSet/>
      <dgm:spPr/>
      <dgm:t>
        <a:bodyPr/>
        <a:lstStyle/>
        <a:p>
          <a:endParaRPr lang="fr-CM"/>
        </a:p>
      </dgm:t>
    </dgm:pt>
    <dgm:pt modelId="{7D46E350-F5AC-40FB-8AD7-74B25677A83C}" type="sibTrans" cxnId="{95C2DDCD-906D-4AD7-8306-97F1B0DDC09F}">
      <dgm:prSet/>
      <dgm:spPr/>
      <dgm:t>
        <a:bodyPr/>
        <a:lstStyle/>
        <a:p>
          <a:endParaRPr lang="fr-CM"/>
        </a:p>
      </dgm:t>
    </dgm:pt>
    <dgm:pt modelId="{3A8A77B1-6402-4A4A-8E78-39B0614BA368}">
      <dgm:prSet/>
      <dgm:spPr/>
      <dgm:t>
        <a:bodyPr/>
        <a:lstStyle/>
        <a:p>
          <a:r>
            <a:rPr lang="fr-CM" dirty="0"/>
            <a:t>Afficher</a:t>
          </a:r>
          <a:r>
            <a:rPr lang="fr-CM" baseline="0" dirty="0"/>
            <a:t> les métriques d’un projet</a:t>
          </a:r>
          <a:endParaRPr lang="fr-CM" dirty="0"/>
        </a:p>
      </dgm:t>
    </dgm:pt>
    <dgm:pt modelId="{0A2F7EE7-C617-4DCF-8179-2F3E73239829}" type="parTrans" cxnId="{7EDF2545-901D-4494-8CCC-555D6D056A0A}">
      <dgm:prSet/>
      <dgm:spPr/>
      <dgm:t>
        <a:bodyPr/>
        <a:lstStyle/>
        <a:p>
          <a:endParaRPr lang="fr-CM"/>
        </a:p>
      </dgm:t>
    </dgm:pt>
    <dgm:pt modelId="{90C6A1CC-345F-480E-9907-66E21361287B}" type="sibTrans" cxnId="{7EDF2545-901D-4494-8CCC-555D6D056A0A}">
      <dgm:prSet/>
      <dgm:spPr/>
      <dgm:t>
        <a:bodyPr/>
        <a:lstStyle/>
        <a:p>
          <a:endParaRPr lang="fr-CM"/>
        </a:p>
      </dgm:t>
    </dgm:pt>
    <dgm:pt modelId="{B0F2EB89-89F2-4FD9-B566-C8E7D523003E}">
      <dgm:prSet/>
      <dgm:spPr/>
      <dgm:t>
        <a:bodyPr/>
        <a:lstStyle/>
        <a:p>
          <a:r>
            <a:rPr lang="fr-CM" dirty="0"/>
            <a:t>Afficher</a:t>
          </a:r>
          <a:r>
            <a:rPr lang="fr-CM" baseline="0" dirty="0"/>
            <a:t> l’historique des événements</a:t>
          </a:r>
          <a:endParaRPr lang="fr-CM" dirty="0"/>
        </a:p>
      </dgm:t>
    </dgm:pt>
    <dgm:pt modelId="{6900F1DC-679C-42DA-AFA3-554E4753286C}" type="parTrans" cxnId="{5395D255-0F54-4CCB-B727-5927BF7F9553}">
      <dgm:prSet/>
      <dgm:spPr/>
      <dgm:t>
        <a:bodyPr/>
        <a:lstStyle/>
        <a:p>
          <a:endParaRPr lang="fr-CM"/>
        </a:p>
      </dgm:t>
    </dgm:pt>
    <dgm:pt modelId="{6729ED5F-6EC4-4E24-B5A9-EA2000745AF5}" type="sibTrans" cxnId="{5395D255-0F54-4CCB-B727-5927BF7F9553}">
      <dgm:prSet/>
      <dgm:spPr/>
      <dgm:t>
        <a:bodyPr/>
        <a:lstStyle/>
        <a:p>
          <a:endParaRPr lang="fr-CM"/>
        </a:p>
      </dgm:t>
    </dgm:pt>
    <dgm:pt modelId="{F39DDD8F-249F-4022-9D11-73AE7ED89CAC}" type="pres">
      <dgm:prSet presAssocID="{28BC9DEB-8377-4386-AE7D-FD4B94764354}" presName="Name0" presStyleCnt="0">
        <dgm:presLayoutVars>
          <dgm:chMax val="7"/>
          <dgm:chPref val="7"/>
          <dgm:dir/>
        </dgm:presLayoutVars>
      </dgm:prSet>
      <dgm:spPr/>
    </dgm:pt>
    <dgm:pt modelId="{3A4F6E71-C86D-4360-90DE-17705A9E8AE6}" type="pres">
      <dgm:prSet presAssocID="{28BC9DEB-8377-4386-AE7D-FD4B94764354}" presName="Name1" presStyleCnt="0"/>
      <dgm:spPr/>
    </dgm:pt>
    <dgm:pt modelId="{190D553E-CE52-4FAE-828F-2A3F900E38BB}" type="pres">
      <dgm:prSet presAssocID="{28BC9DEB-8377-4386-AE7D-FD4B94764354}" presName="cycle" presStyleCnt="0"/>
      <dgm:spPr/>
    </dgm:pt>
    <dgm:pt modelId="{26558EE2-DC09-4CDD-AA40-5D03214E38C0}" type="pres">
      <dgm:prSet presAssocID="{28BC9DEB-8377-4386-AE7D-FD4B94764354}" presName="srcNode" presStyleLbl="node1" presStyleIdx="0" presStyleCnt="5"/>
      <dgm:spPr/>
    </dgm:pt>
    <dgm:pt modelId="{09D8A080-17B3-4CC4-A46E-EAC9813A7907}" type="pres">
      <dgm:prSet presAssocID="{28BC9DEB-8377-4386-AE7D-FD4B94764354}" presName="conn" presStyleLbl="parChTrans1D2" presStyleIdx="0" presStyleCnt="1"/>
      <dgm:spPr/>
    </dgm:pt>
    <dgm:pt modelId="{5D05EB06-04B0-446B-95DB-81BD53C2807F}" type="pres">
      <dgm:prSet presAssocID="{28BC9DEB-8377-4386-AE7D-FD4B94764354}" presName="extraNode" presStyleLbl="node1" presStyleIdx="0" presStyleCnt="5"/>
      <dgm:spPr/>
    </dgm:pt>
    <dgm:pt modelId="{F68859BD-DC03-4D84-8F76-D668A6C42D33}" type="pres">
      <dgm:prSet presAssocID="{28BC9DEB-8377-4386-AE7D-FD4B94764354}" presName="dstNode" presStyleLbl="node1" presStyleIdx="0" presStyleCnt="5"/>
      <dgm:spPr/>
    </dgm:pt>
    <dgm:pt modelId="{2CDBE3B6-4CC7-42DF-B5A7-FAC7FE561486}" type="pres">
      <dgm:prSet presAssocID="{CAD5F479-9349-4A5D-B19B-6AA1FCA250BE}" presName="text_1" presStyleLbl="node1" presStyleIdx="0" presStyleCnt="5">
        <dgm:presLayoutVars>
          <dgm:bulletEnabled val="1"/>
        </dgm:presLayoutVars>
      </dgm:prSet>
      <dgm:spPr/>
    </dgm:pt>
    <dgm:pt modelId="{42DA7466-4098-4112-9C81-0676485B2FC0}" type="pres">
      <dgm:prSet presAssocID="{CAD5F479-9349-4A5D-B19B-6AA1FCA250BE}" presName="accent_1" presStyleCnt="0"/>
      <dgm:spPr/>
    </dgm:pt>
    <dgm:pt modelId="{6CE0CFB2-603E-40B7-A0DC-8ED90D955A4E}" type="pres">
      <dgm:prSet presAssocID="{CAD5F479-9349-4A5D-B19B-6AA1FCA250BE}" presName="accentRepeatNode" presStyleLbl="solidFgAcc1" presStyleIdx="0" presStyleCnt="5"/>
      <dgm:spPr/>
    </dgm:pt>
    <dgm:pt modelId="{11D01129-A5AC-4E63-B59D-E0EFE8568307}" type="pres">
      <dgm:prSet presAssocID="{B32AFF46-CF82-4909-B693-2C5CB4483D70}" presName="text_2" presStyleLbl="node1" presStyleIdx="1" presStyleCnt="5">
        <dgm:presLayoutVars>
          <dgm:bulletEnabled val="1"/>
        </dgm:presLayoutVars>
      </dgm:prSet>
      <dgm:spPr/>
    </dgm:pt>
    <dgm:pt modelId="{C7C84CA8-82F0-427E-A8AB-840CF4B3F809}" type="pres">
      <dgm:prSet presAssocID="{B32AFF46-CF82-4909-B693-2C5CB4483D70}" presName="accent_2" presStyleCnt="0"/>
      <dgm:spPr/>
    </dgm:pt>
    <dgm:pt modelId="{A352A4C6-2274-495B-A1AA-924BAC10515A}" type="pres">
      <dgm:prSet presAssocID="{B32AFF46-CF82-4909-B693-2C5CB4483D70}" presName="accentRepeatNode" presStyleLbl="solidFgAcc1" presStyleIdx="1" presStyleCnt="5"/>
      <dgm:spPr/>
    </dgm:pt>
    <dgm:pt modelId="{0B2674AF-5FAC-4F5C-A994-2B1EB6AA41A3}" type="pres">
      <dgm:prSet presAssocID="{87B80AA0-7B7C-4979-BB40-7E7BFDB2267D}" presName="text_3" presStyleLbl="node1" presStyleIdx="2" presStyleCnt="5">
        <dgm:presLayoutVars>
          <dgm:bulletEnabled val="1"/>
        </dgm:presLayoutVars>
      </dgm:prSet>
      <dgm:spPr/>
    </dgm:pt>
    <dgm:pt modelId="{0113B816-4441-4DF1-8B96-4173BF5EEB62}" type="pres">
      <dgm:prSet presAssocID="{87B80AA0-7B7C-4979-BB40-7E7BFDB2267D}" presName="accent_3" presStyleCnt="0"/>
      <dgm:spPr/>
    </dgm:pt>
    <dgm:pt modelId="{3DCC4208-6328-47BB-8061-729D4761B80A}" type="pres">
      <dgm:prSet presAssocID="{87B80AA0-7B7C-4979-BB40-7E7BFDB2267D}" presName="accentRepeatNode" presStyleLbl="solidFgAcc1" presStyleIdx="2" presStyleCnt="5"/>
      <dgm:spPr/>
    </dgm:pt>
    <dgm:pt modelId="{15F1A9F6-4A36-49A3-AABA-DAC588478651}" type="pres">
      <dgm:prSet presAssocID="{3A8A77B1-6402-4A4A-8E78-39B0614BA368}" presName="text_4" presStyleLbl="node1" presStyleIdx="3" presStyleCnt="5">
        <dgm:presLayoutVars>
          <dgm:bulletEnabled val="1"/>
        </dgm:presLayoutVars>
      </dgm:prSet>
      <dgm:spPr/>
    </dgm:pt>
    <dgm:pt modelId="{1798F43D-2DDE-4A84-8FC9-F0D68FE19261}" type="pres">
      <dgm:prSet presAssocID="{3A8A77B1-6402-4A4A-8E78-39B0614BA368}" presName="accent_4" presStyleCnt="0"/>
      <dgm:spPr/>
    </dgm:pt>
    <dgm:pt modelId="{4C427B33-9AF6-4E86-8903-8D156F68CAC6}" type="pres">
      <dgm:prSet presAssocID="{3A8A77B1-6402-4A4A-8E78-39B0614BA368}" presName="accentRepeatNode" presStyleLbl="solidFgAcc1" presStyleIdx="3" presStyleCnt="5"/>
      <dgm:spPr/>
    </dgm:pt>
    <dgm:pt modelId="{74A94A40-643F-4B66-A404-54AE519DE939}" type="pres">
      <dgm:prSet presAssocID="{B0F2EB89-89F2-4FD9-B566-C8E7D523003E}" presName="text_5" presStyleLbl="node1" presStyleIdx="4" presStyleCnt="5">
        <dgm:presLayoutVars>
          <dgm:bulletEnabled val="1"/>
        </dgm:presLayoutVars>
      </dgm:prSet>
      <dgm:spPr/>
    </dgm:pt>
    <dgm:pt modelId="{3FF27C95-5EF4-46EF-98EE-C362D766995B}" type="pres">
      <dgm:prSet presAssocID="{B0F2EB89-89F2-4FD9-B566-C8E7D523003E}" presName="accent_5" presStyleCnt="0"/>
      <dgm:spPr/>
    </dgm:pt>
    <dgm:pt modelId="{B81314A7-88CD-4FE9-AE0E-34F7EEB4ED47}" type="pres">
      <dgm:prSet presAssocID="{B0F2EB89-89F2-4FD9-B566-C8E7D523003E}" presName="accentRepeatNode" presStyleLbl="solidFgAcc1" presStyleIdx="4" presStyleCnt="5"/>
      <dgm:spPr/>
    </dgm:pt>
  </dgm:ptLst>
  <dgm:cxnLst>
    <dgm:cxn modelId="{5663AA01-6B8D-4AEC-9F1D-81501F462859}" srcId="{28BC9DEB-8377-4386-AE7D-FD4B94764354}" destId="{CAD5F479-9349-4A5D-B19B-6AA1FCA250BE}" srcOrd="0" destOrd="0" parTransId="{2540A25B-B99E-4DCE-913A-CF37A9937E95}" sibTransId="{8D4D8076-0B20-46E1-BB43-1DA332703004}"/>
    <dgm:cxn modelId="{DE10C80E-2531-41F3-94DF-DDB4C3B65E9D}" type="presOf" srcId="{B32AFF46-CF82-4909-B693-2C5CB4483D70}" destId="{11D01129-A5AC-4E63-B59D-E0EFE8568307}" srcOrd="0" destOrd="0" presId="urn:microsoft.com/office/officeart/2008/layout/VerticalCurvedList"/>
    <dgm:cxn modelId="{5F28AA32-D86B-4E99-8E4C-EACFB803DAFE}" type="presOf" srcId="{CAD5F479-9349-4A5D-B19B-6AA1FCA250BE}" destId="{2CDBE3B6-4CC7-42DF-B5A7-FAC7FE561486}" srcOrd="0" destOrd="0" presId="urn:microsoft.com/office/officeart/2008/layout/VerticalCurvedList"/>
    <dgm:cxn modelId="{A432535D-CBBA-446D-AED4-37E8179F3874}" type="presOf" srcId="{B0F2EB89-89F2-4FD9-B566-C8E7D523003E}" destId="{74A94A40-643F-4B66-A404-54AE519DE939}" srcOrd="0" destOrd="0" presId="urn:microsoft.com/office/officeart/2008/layout/VerticalCurvedList"/>
    <dgm:cxn modelId="{7EDF2545-901D-4494-8CCC-555D6D056A0A}" srcId="{28BC9DEB-8377-4386-AE7D-FD4B94764354}" destId="{3A8A77B1-6402-4A4A-8E78-39B0614BA368}" srcOrd="3" destOrd="0" parTransId="{0A2F7EE7-C617-4DCF-8179-2F3E73239829}" sibTransId="{90C6A1CC-345F-480E-9907-66E21361287B}"/>
    <dgm:cxn modelId="{20895352-CE1B-4AF7-AFCB-19BFA351E26D}" type="presOf" srcId="{87B80AA0-7B7C-4979-BB40-7E7BFDB2267D}" destId="{0B2674AF-5FAC-4F5C-A994-2B1EB6AA41A3}" srcOrd="0" destOrd="0" presId="urn:microsoft.com/office/officeart/2008/layout/VerticalCurvedList"/>
    <dgm:cxn modelId="{5395D255-0F54-4CCB-B727-5927BF7F9553}" srcId="{28BC9DEB-8377-4386-AE7D-FD4B94764354}" destId="{B0F2EB89-89F2-4FD9-B566-C8E7D523003E}" srcOrd="4" destOrd="0" parTransId="{6900F1DC-679C-42DA-AFA3-554E4753286C}" sibTransId="{6729ED5F-6EC4-4E24-B5A9-EA2000745AF5}"/>
    <dgm:cxn modelId="{7BD7E656-B45E-4411-98A1-BCB7C32F41CC}" type="presOf" srcId="{8D4D8076-0B20-46E1-BB43-1DA332703004}" destId="{09D8A080-17B3-4CC4-A46E-EAC9813A7907}" srcOrd="0" destOrd="0" presId="urn:microsoft.com/office/officeart/2008/layout/VerticalCurvedList"/>
    <dgm:cxn modelId="{C2768688-D621-45EC-B474-185060A23306}" srcId="{28BC9DEB-8377-4386-AE7D-FD4B94764354}" destId="{B32AFF46-CF82-4909-B693-2C5CB4483D70}" srcOrd="1" destOrd="0" parTransId="{E9F715D9-CFBF-41EE-AE99-CF31CBA76980}" sibTransId="{A5E2ECD5-ECD9-469D-A1F8-04E3265DE5CA}"/>
    <dgm:cxn modelId="{C7327B94-15D0-4F06-93CE-D43C98C64255}" type="presOf" srcId="{3A8A77B1-6402-4A4A-8E78-39B0614BA368}" destId="{15F1A9F6-4A36-49A3-AABA-DAC588478651}" srcOrd="0" destOrd="0" presId="urn:microsoft.com/office/officeart/2008/layout/VerticalCurvedList"/>
    <dgm:cxn modelId="{95C2DDCD-906D-4AD7-8306-97F1B0DDC09F}" srcId="{28BC9DEB-8377-4386-AE7D-FD4B94764354}" destId="{87B80AA0-7B7C-4979-BB40-7E7BFDB2267D}" srcOrd="2" destOrd="0" parTransId="{D9A5312C-7FFB-446A-B5ED-A15933DF0479}" sibTransId="{7D46E350-F5AC-40FB-8AD7-74B25677A83C}"/>
    <dgm:cxn modelId="{481188E2-E52A-4347-8F0B-47FFF5A5E821}" type="presOf" srcId="{28BC9DEB-8377-4386-AE7D-FD4B94764354}" destId="{F39DDD8F-249F-4022-9D11-73AE7ED89CAC}" srcOrd="0" destOrd="0" presId="urn:microsoft.com/office/officeart/2008/layout/VerticalCurvedList"/>
    <dgm:cxn modelId="{1DA5456C-ECF9-49D2-9B40-C887C6D48334}" type="presParOf" srcId="{F39DDD8F-249F-4022-9D11-73AE7ED89CAC}" destId="{3A4F6E71-C86D-4360-90DE-17705A9E8AE6}" srcOrd="0" destOrd="0" presId="urn:microsoft.com/office/officeart/2008/layout/VerticalCurvedList"/>
    <dgm:cxn modelId="{DA6B5B62-C5A6-4A4B-A244-B9069B1EF1C3}" type="presParOf" srcId="{3A4F6E71-C86D-4360-90DE-17705A9E8AE6}" destId="{190D553E-CE52-4FAE-828F-2A3F900E38BB}" srcOrd="0" destOrd="0" presId="urn:microsoft.com/office/officeart/2008/layout/VerticalCurvedList"/>
    <dgm:cxn modelId="{E3B55D50-7166-492B-8B31-28B40F573D83}" type="presParOf" srcId="{190D553E-CE52-4FAE-828F-2A3F900E38BB}" destId="{26558EE2-DC09-4CDD-AA40-5D03214E38C0}" srcOrd="0" destOrd="0" presId="urn:microsoft.com/office/officeart/2008/layout/VerticalCurvedList"/>
    <dgm:cxn modelId="{685F1C04-7568-4C36-A0F1-A7D0E244C1A1}" type="presParOf" srcId="{190D553E-CE52-4FAE-828F-2A3F900E38BB}" destId="{09D8A080-17B3-4CC4-A46E-EAC9813A7907}" srcOrd="1" destOrd="0" presId="urn:microsoft.com/office/officeart/2008/layout/VerticalCurvedList"/>
    <dgm:cxn modelId="{9425D5AA-7C57-4413-B674-8F8C20F7DC1B}" type="presParOf" srcId="{190D553E-CE52-4FAE-828F-2A3F900E38BB}" destId="{5D05EB06-04B0-446B-95DB-81BD53C2807F}" srcOrd="2" destOrd="0" presId="urn:microsoft.com/office/officeart/2008/layout/VerticalCurvedList"/>
    <dgm:cxn modelId="{7AE5B648-05E0-492D-AFB5-98CEEFE06B25}" type="presParOf" srcId="{190D553E-CE52-4FAE-828F-2A3F900E38BB}" destId="{F68859BD-DC03-4D84-8F76-D668A6C42D33}" srcOrd="3" destOrd="0" presId="urn:microsoft.com/office/officeart/2008/layout/VerticalCurvedList"/>
    <dgm:cxn modelId="{B3A0F77E-D3C8-4420-8919-3C7B4067BDCF}" type="presParOf" srcId="{3A4F6E71-C86D-4360-90DE-17705A9E8AE6}" destId="{2CDBE3B6-4CC7-42DF-B5A7-FAC7FE561486}" srcOrd="1" destOrd="0" presId="urn:microsoft.com/office/officeart/2008/layout/VerticalCurvedList"/>
    <dgm:cxn modelId="{473DFF62-E1AE-495C-875D-6740E263B3B5}" type="presParOf" srcId="{3A4F6E71-C86D-4360-90DE-17705A9E8AE6}" destId="{42DA7466-4098-4112-9C81-0676485B2FC0}" srcOrd="2" destOrd="0" presId="urn:microsoft.com/office/officeart/2008/layout/VerticalCurvedList"/>
    <dgm:cxn modelId="{72C2DBDC-B905-4B86-B3C7-214048E4A5E9}" type="presParOf" srcId="{42DA7466-4098-4112-9C81-0676485B2FC0}" destId="{6CE0CFB2-603E-40B7-A0DC-8ED90D955A4E}" srcOrd="0" destOrd="0" presId="urn:microsoft.com/office/officeart/2008/layout/VerticalCurvedList"/>
    <dgm:cxn modelId="{07A2535D-61F4-4F91-90BC-97A9E9A95DDE}" type="presParOf" srcId="{3A4F6E71-C86D-4360-90DE-17705A9E8AE6}" destId="{11D01129-A5AC-4E63-B59D-E0EFE8568307}" srcOrd="3" destOrd="0" presId="urn:microsoft.com/office/officeart/2008/layout/VerticalCurvedList"/>
    <dgm:cxn modelId="{571C2F0B-190C-4BB8-A599-955DADD560BB}" type="presParOf" srcId="{3A4F6E71-C86D-4360-90DE-17705A9E8AE6}" destId="{C7C84CA8-82F0-427E-A8AB-840CF4B3F809}" srcOrd="4" destOrd="0" presId="urn:microsoft.com/office/officeart/2008/layout/VerticalCurvedList"/>
    <dgm:cxn modelId="{C1F0A56F-24B0-489F-B2B0-60E3D0970634}" type="presParOf" srcId="{C7C84CA8-82F0-427E-A8AB-840CF4B3F809}" destId="{A352A4C6-2274-495B-A1AA-924BAC10515A}" srcOrd="0" destOrd="0" presId="urn:microsoft.com/office/officeart/2008/layout/VerticalCurvedList"/>
    <dgm:cxn modelId="{46DE0E07-0BA5-416E-92F1-74E2BDB01828}" type="presParOf" srcId="{3A4F6E71-C86D-4360-90DE-17705A9E8AE6}" destId="{0B2674AF-5FAC-4F5C-A994-2B1EB6AA41A3}" srcOrd="5" destOrd="0" presId="urn:microsoft.com/office/officeart/2008/layout/VerticalCurvedList"/>
    <dgm:cxn modelId="{149E3107-052A-4476-85B9-BAA807A20113}" type="presParOf" srcId="{3A4F6E71-C86D-4360-90DE-17705A9E8AE6}" destId="{0113B816-4441-4DF1-8B96-4173BF5EEB62}" srcOrd="6" destOrd="0" presId="urn:microsoft.com/office/officeart/2008/layout/VerticalCurvedList"/>
    <dgm:cxn modelId="{7E3B3AA2-FDE4-407F-BD60-CBCB7B84A312}" type="presParOf" srcId="{0113B816-4441-4DF1-8B96-4173BF5EEB62}" destId="{3DCC4208-6328-47BB-8061-729D4761B80A}" srcOrd="0" destOrd="0" presId="urn:microsoft.com/office/officeart/2008/layout/VerticalCurvedList"/>
    <dgm:cxn modelId="{F6B011A9-3E30-48FB-A3D0-F3A0376FD372}" type="presParOf" srcId="{3A4F6E71-C86D-4360-90DE-17705A9E8AE6}" destId="{15F1A9F6-4A36-49A3-AABA-DAC588478651}" srcOrd="7" destOrd="0" presId="urn:microsoft.com/office/officeart/2008/layout/VerticalCurvedList"/>
    <dgm:cxn modelId="{472FB3AB-358C-4A76-87D7-FC1F051BC128}" type="presParOf" srcId="{3A4F6E71-C86D-4360-90DE-17705A9E8AE6}" destId="{1798F43D-2DDE-4A84-8FC9-F0D68FE19261}" srcOrd="8" destOrd="0" presId="urn:microsoft.com/office/officeart/2008/layout/VerticalCurvedList"/>
    <dgm:cxn modelId="{E2CE5CDB-D8FE-47D3-B2D3-4312220B7B03}" type="presParOf" srcId="{1798F43D-2DDE-4A84-8FC9-F0D68FE19261}" destId="{4C427B33-9AF6-4E86-8903-8D156F68CAC6}" srcOrd="0" destOrd="0" presId="urn:microsoft.com/office/officeart/2008/layout/VerticalCurvedList"/>
    <dgm:cxn modelId="{D7C2E83A-4100-4EB1-98ED-6ADE91F5E757}" type="presParOf" srcId="{3A4F6E71-C86D-4360-90DE-17705A9E8AE6}" destId="{74A94A40-643F-4B66-A404-54AE519DE939}" srcOrd="9" destOrd="0" presId="urn:microsoft.com/office/officeart/2008/layout/VerticalCurvedList"/>
    <dgm:cxn modelId="{563FDBDD-BC68-4826-9521-1147CB2765C6}" type="presParOf" srcId="{3A4F6E71-C86D-4360-90DE-17705A9E8AE6}" destId="{3FF27C95-5EF4-46EF-98EE-C362D766995B}" srcOrd="10" destOrd="0" presId="urn:microsoft.com/office/officeart/2008/layout/VerticalCurvedList"/>
    <dgm:cxn modelId="{161ED428-243D-4106-B3DD-9174DF3E2A32}" type="presParOf" srcId="{3FF27C95-5EF4-46EF-98EE-C362D766995B}" destId="{B81314A7-88CD-4FE9-AE0E-34F7EEB4ED4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BC9DEB-8377-4386-AE7D-FD4B94764354}" type="doc">
      <dgm:prSet loTypeId="urn:microsoft.com/office/officeart/2008/layout/VerticalCurvedList" loCatId="list" qsTypeId="urn:microsoft.com/office/officeart/2005/8/quickstyle/simple5" qsCatId="simple" csTypeId="urn:microsoft.com/office/officeart/2005/8/colors/accent1_4" csCatId="accent1" phldr="1"/>
      <dgm:spPr/>
      <dgm:t>
        <a:bodyPr/>
        <a:lstStyle/>
        <a:p>
          <a:endParaRPr lang="fr-CM"/>
        </a:p>
      </dgm:t>
    </dgm:pt>
    <dgm:pt modelId="{CAD5F479-9349-4A5D-B19B-6AA1FCA250BE}">
      <dgm:prSet/>
      <dgm:spPr/>
      <dgm:t>
        <a:bodyPr/>
        <a:lstStyle/>
        <a:p>
          <a:r>
            <a:rPr lang="fr-CM" dirty="0"/>
            <a:t>Définir</a:t>
          </a:r>
          <a:r>
            <a:rPr lang="fr-CM" baseline="0" dirty="0"/>
            <a:t> des seuils d’alerte</a:t>
          </a:r>
          <a:endParaRPr lang="fr-CM" dirty="0"/>
        </a:p>
      </dgm:t>
    </dgm:pt>
    <dgm:pt modelId="{2540A25B-B99E-4DCE-913A-CF37A9937E95}" type="parTrans" cxnId="{5663AA01-6B8D-4AEC-9F1D-81501F462859}">
      <dgm:prSet/>
      <dgm:spPr/>
      <dgm:t>
        <a:bodyPr/>
        <a:lstStyle/>
        <a:p>
          <a:endParaRPr lang="fr-CM"/>
        </a:p>
      </dgm:t>
    </dgm:pt>
    <dgm:pt modelId="{8D4D8076-0B20-46E1-BB43-1DA332703004}" type="sibTrans" cxnId="{5663AA01-6B8D-4AEC-9F1D-81501F462859}">
      <dgm:prSet/>
      <dgm:spPr/>
      <dgm:t>
        <a:bodyPr/>
        <a:lstStyle/>
        <a:p>
          <a:endParaRPr lang="fr-CM"/>
        </a:p>
      </dgm:t>
    </dgm:pt>
    <dgm:pt modelId="{B32AFF46-CF82-4909-B693-2C5CB4483D70}">
      <dgm:prSet/>
      <dgm:spPr/>
      <dgm:t>
        <a:bodyPr/>
        <a:lstStyle/>
        <a:p>
          <a:r>
            <a:rPr lang="fr-CM" dirty="0"/>
            <a:t>Générer</a:t>
          </a:r>
          <a:r>
            <a:rPr lang="fr-CM" baseline="0" dirty="0"/>
            <a:t> des factures</a:t>
          </a:r>
          <a:endParaRPr lang="fr-CM" dirty="0"/>
        </a:p>
      </dgm:t>
    </dgm:pt>
    <dgm:pt modelId="{E9F715D9-CFBF-41EE-AE99-CF31CBA76980}" type="parTrans" cxnId="{C2768688-D621-45EC-B474-185060A23306}">
      <dgm:prSet/>
      <dgm:spPr/>
      <dgm:t>
        <a:bodyPr/>
        <a:lstStyle/>
        <a:p>
          <a:endParaRPr lang="fr-CM"/>
        </a:p>
      </dgm:t>
    </dgm:pt>
    <dgm:pt modelId="{A5E2ECD5-ECD9-469D-A1F8-04E3265DE5CA}" type="sibTrans" cxnId="{C2768688-D621-45EC-B474-185060A23306}">
      <dgm:prSet/>
      <dgm:spPr/>
      <dgm:t>
        <a:bodyPr/>
        <a:lstStyle/>
        <a:p>
          <a:endParaRPr lang="fr-CM"/>
        </a:p>
      </dgm:t>
    </dgm:pt>
    <dgm:pt modelId="{C3D577DD-A6D6-4492-A649-CAF861B4F4AC}">
      <dgm:prSet/>
      <dgm:spPr/>
      <dgm:t>
        <a:bodyPr/>
        <a:lstStyle/>
        <a:p>
          <a:r>
            <a:rPr lang="fr-CM" dirty="0"/>
            <a:t>Ajouter un plan tarifaire</a:t>
          </a:r>
        </a:p>
      </dgm:t>
    </dgm:pt>
    <dgm:pt modelId="{762FCCC5-2529-463F-9097-AC08E37381F6}" type="parTrans" cxnId="{AFEED016-D212-4111-BCD5-BDF601ED5A50}">
      <dgm:prSet/>
      <dgm:spPr/>
      <dgm:t>
        <a:bodyPr/>
        <a:lstStyle/>
        <a:p>
          <a:endParaRPr lang="fr-CM"/>
        </a:p>
      </dgm:t>
    </dgm:pt>
    <dgm:pt modelId="{01008548-1FCA-4F2B-8EAF-D8E4C0614C73}" type="sibTrans" cxnId="{AFEED016-D212-4111-BCD5-BDF601ED5A50}">
      <dgm:prSet/>
      <dgm:spPr/>
      <dgm:t>
        <a:bodyPr/>
        <a:lstStyle/>
        <a:p>
          <a:endParaRPr lang="fr-CM"/>
        </a:p>
      </dgm:t>
    </dgm:pt>
    <dgm:pt modelId="{E7B4FA8C-8792-4630-B96D-5C94111D7882}">
      <dgm:prSet/>
      <dgm:spPr/>
      <dgm:t>
        <a:bodyPr/>
        <a:lstStyle/>
        <a:p>
          <a:r>
            <a:rPr lang="fr-CM" dirty="0"/>
            <a:t>Supprimer un plan tarifaire</a:t>
          </a:r>
        </a:p>
      </dgm:t>
    </dgm:pt>
    <dgm:pt modelId="{E670A8C2-3944-4020-905D-81C63E844781}" type="parTrans" cxnId="{BB05CE11-CB72-43FE-8067-6EA855580F26}">
      <dgm:prSet/>
      <dgm:spPr/>
      <dgm:t>
        <a:bodyPr/>
        <a:lstStyle/>
        <a:p>
          <a:endParaRPr lang="fr-CM"/>
        </a:p>
      </dgm:t>
    </dgm:pt>
    <dgm:pt modelId="{10177A5E-B58B-4E78-8232-9B7066E7FC8A}" type="sibTrans" cxnId="{BB05CE11-CB72-43FE-8067-6EA855580F26}">
      <dgm:prSet/>
      <dgm:spPr/>
      <dgm:t>
        <a:bodyPr/>
        <a:lstStyle/>
        <a:p>
          <a:endParaRPr lang="fr-CM"/>
        </a:p>
      </dgm:t>
    </dgm:pt>
    <dgm:pt modelId="{C9D52D5D-8B36-4054-973E-D0E7D6132183}">
      <dgm:prSet/>
      <dgm:spPr/>
      <dgm:t>
        <a:bodyPr/>
        <a:lstStyle/>
        <a:p>
          <a:r>
            <a:rPr lang="fr-CM" dirty="0"/>
            <a:t>Modifier un plan tarifaire et afficher </a:t>
          </a:r>
          <a:r>
            <a:rPr lang="fr-CM"/>
            <a:t>les plans tarifaires</a:t>
          </a:r>
          <a:endParaRPr lang="fr-CM" dirty="0"/>
        </a:p>
      </dgm:t>
    </dgm:pt>
    <dgm:pt modelId="{6D3DA640-6556-4A5D-9511-B83299F6E5E5}" type="parTrans" cxnId="{7DB9F239-C9A1-463D-BF46-AC956A9E7D0A}">
      <dgm:prSet/>
      <dgm:spPr/>
      <dgm:t>
        <a:bodyPr/>
        <a:lstStyle/>
        <a:p>
          <a:endParaRPr lang="fr-CM"/>
        </a:p>
      </dgm:t>
    </dgm:pt>
    <dgm:pt modelId="{EB73BED2-6C5F-4744-B85A-F32DE90E9CE8}" type="sibTrans" cxnId="{7DB9F239-C9A1-463D-BF46-AC956A9E7D0A}">
      <dgm:prSet/>
      <dgm:spPr/>
      <dgm:t>
        <a:bodyPr/>
        <a:lstStyle/>
        <a:p>
          <a:endParaRPr lang="fr-CM"/>
        </a:p>
      </dgm:t>
    </dgm:pt>
    <dgm:pt modelId="{F39DDD8F-249F-4022-9D11-73AE7ED89CAC}" type="pres">
      <dgm:prSet presAssocID="{28BC9DEB-8377-4386-AE7D-FD4B94764354}" presName="Name0" presStyleCnt="0">
        <dgm:presLayoutVars>
          <dgm:chMax val="7"/>
          <dgm:chPref val="7"/>
          <dgm:dir/>
        </dgm:presLayoutVars>
      </dgm:prSet>
      <dgm:spPr/>
    </dgm:pt>
    <dgm:pt modelId="{3A4F6E71-C86D-4360-90DE-17705A9E8AE6}" type="pres">
      <dgm:prSet presAssocID="{28BC9DEB-8377-4386-AE7D-FD4B94764354}" presName="Name1" presStyleCnt="0"/>
      <dgm:spPr/>
    </dgm:pt>
    <dgm:pt modelId="{190D553E-CE52-4FAE-828F-2A3F900E38BB}" type="pres">
      <dgm:prSet presAssocID="{28BC9DEB-8377-4386-AE7D-FD4B94764354}" presName="cycle" presStyleCnt="0"/>
      <dgm:spPr/>
    </dgm:pt>
    <dgm:pt modelId="{26558EE2-DC09-4CDD-AA40-5D03214E38C0}" type="pres">
      <dgm:prSet presAssocID="{28BC9DEB-8377-4386-AE7D-FD4B94764354}" presName="srcNode" presStyleLbl="node1" presStyleIdx="0" presStyleCnt="5"/>
      <dgm:spPr/>
    </dgm:pt>
    <dgm:pt modelId="{09D8A080-17B3-4CC4-A46E-EAC9813A7907}" type="pres">
      <dgm:prSet presAssocID="{28BC9DEB-8377-4386-AE7D-FD4B94764354}" presName="conn" presStyleLbl="parChTrans1D2" presStyleIdx="0" presStyleCnt="1"/>
      <dgm:spPr/>
    </dgm:pt>
    <dgm:pt modelId="{5D05EB06-04B0-446B-95DB-81BD53C2807F}" type="pres">
      <dgm:prSet presAssocID="{28BC9DEB-8377-4386-AE7D-FD4B94764354}" presName="extraNode" presStyleLbl="node1" presStyleIdx="0" presStyleCnt="5"/>
      <dgm:spPr/>
    </dgm:pt>
    <dgm:pt modelId="{F68859BD-DC03-4D84-8F76-D668A6C42D33}" type="pres">
      <dgm:prSet presAssocID="{28BC9DEB-8377-4386-AE7D-FD4B94764354}" presName="dstNode" presStyleLbl="node1" presStyleIdx="0" presStyleCnt="5"/>
      <dgm:spPr/>
    </dgm:pt>
    <dgm:pt modelId="{2CDBE3B6-4CC7-42DF-B5A7-FAC7FE561486}" type="pres">
      <dgm:prSet presAssocID="{CAD5F479-9349-4A5D-B19B-6AA1FCA250BE}" presName="text_1" presStyleLbl="node1" presStyleIdx="0" presStyleCnt="5" custScaleY="87447" custLinFactNeighborX="-101" custLinFactNeighborY="-19392">
        <dgm:presLayoutVars>
          <dgm:bulletEnabled val="1"/>
        </dgm:presLayoutVars>
      </dgm:prSet>
      <dgm:spPr/>
    </dgm:pt>
    <dgm:pt modelId="{42DA7466-4098-4112-9C81-0676485B2FC0}" type="pres">
      <dgm:prSet presAssocID="{CAD5F479-9349-4A5D-B19B-6AA1FCA250BE}" presName="accent_1" presStyleCnt="0"/>
      <dgm:spPr/>
    </dgm:pt>
    <dgm:pt modelId="{6CE0CFB2-603E-40B7-A0DC-8ED90D955A4E}" type="pres">
      <dgm:prSet presAssocID="{CAD5F479-9349-4A5D-B19B-6AA1FCA250BE}" presName="accentRepeatNode" presStyleLbl="solidFgAcc1" presStyleIdx="0" presStyleCnt="5" custScaleX="89320" custScaleY="91038" custLinFactNeighborX="-15892" custLinFactNeighborY="-15516"/>
      <dgm:spPr/>
    </dgm:pt>
    <dgm:pt modelId="{11D01129-A5AC-4E63-B59D-E0EFE8568307}" type="pres">
      <dgm:prSet presAssocID="{B32AFF46-CF82-4909-B693-2C5CB4483D70}" presName="text_2" presStyleLbl="node1" presStyleIdx="1" presStyleCnt="5" custScaleY="83485" custLinFactNeighborX="-127" custLinFactNeighborY="-14085">
        <dgm:presLayoutVars>
          <dgm:bulletEnabled val="1"/>
        </dgm:presLayoutVars>
      </dgm:prSet>
      <dgm:spPr/>
    </dgm:pt>
    <dgm:pt modelId="{C7C84CA8-82F0-427E-A8AB-840CF4B3F809}" type="pres">
      <dgm:prSet presAssocID="{B32AFF46-CF82-4909-B693-2C5CB4483D70}" presName="accent_2" presStyleCnt="0"/>
      <dgm:spPr/>
    </dgm:pt>
    <dgm:pt modelId="{A352A4C6-2274-495B-A1AA-924BAC10515A}" type="pres">
      <dgm:prSet presAssocID="{B32AFF46-CF82-4909-B693-2C5CB4483D70}" presName="accentRepeatNode" presStyleLbl="solidFgAcc1" presStyleIdx="1" presStyleCnt="5" custScaleX="89320" custScaleY="91037" custLinFactNeighborX="-18718" custLinFactNeighborY="-4380"/>
      <dgm:spPr/>
    </dgm:pt>
    <dgm:pt modelId="{3EEB5E01-B96F-49CF-8544-9A9771F7DD8F}" type="pres">
      <dgm:prSet presAssocID="{C3D577DD-A6D6-4492-A649-CAF861B4F4AC}" presName="text_3" presStyleLbl="node1" presStyleIdx="2" presStyleCnt="5" custLinFactNeighborY="1899">
        <dgm:presLayoutVars>
          <dgm:bulletEnabled val="1"/>
        </dgm:presLayoutVars>
      </dgm:prSet>
      <dgm:spPr/>
    </dgm:pt>
    <dgm:pt modelId="{1C50CD97-6970-4B84-B06B-2F0A756570BA}" type="pres">
      <dgm:prSet presAssocID="{C3D577DD-A6D6-4492-A649-CAF861B4F4AC}" presName="accent_3" presStyleCnt="0"/>
      <dgm:spPr/>
    </dgm:pt>
    <dgm:pt modelId="{D760E5EF-E493-4ACD-ABAC-E70F0F6B54B6}" type="pres">
      <dgm:prSet presAssocID="{C3D577DD-A6D6-4492-A649-CAF861B4F4AC}" presName="accentRepeatNode" presStyleLbl="solidFgAcc1" presStyleIdx="2" presStyleCnt="5" custScaleX="89320" custScaleY="91037" custLinFactNeighborX="1499" custLinFactNeighborY="1518"/>
      <dgm:spPr/>
    </dgm:pt>
    <dgm:pt modelId="{EF742F17-1A1A-4AFD-81E8-B30F7CB904BF}" type="pres">
      <dgm:prSet presAssocID="{E7B4FA8C-8792-4630-B96D-5C94111D7882}" presName="text_4" presStyleLbl="node1" presStyleIdx="3" presStyleCnt="5" custScaleY="80021" custLinFactNeighborY="18258">
        <dgm:presLayoutVars>
          <dgm:bulletEnabled val="1"/>
        </dgm:presLayoutVars>
      </dgm:prSet>
      <dgm:spPr/>
    </dgm:pt>
    <dgm:pt modelId="{9F1B800F-B427-438E-8BD9-728BCAEFF05F}" type="pres">
      <dgm:prSet presAssocID="{E7B4FA8C-8792-4630-B96D-5C94111D7882}" presName="accent_4" presStyleCnt="0"/>
      <dgm:spPr/>
    </dgm:pt>
    <dgm:pt modelId="{982FB3BC-3768-44B6-9D1A-373222B8C2F6}" type="pres">
      <dgm:prSet presAssocID="{E7B4FA8C-8792-4630-B96D-5C94111D7882}" presName="accentRepeatNode" presStyleLbl="solidFgAcc1" presStyleIdx="3" presStyleCnt="5" custScaleX="89320" custScaleY="91004" custLinFactNeighborY="14612"/>
      <dgm:spPr/>
    </dgm:pt>
    <dgm:pt modelId="{910A612B-1DFE-4E25-88D0-E444ECE356D3}" type="pres">
      <dgm:prSet presAssocID="{C9D52D5D-8B36-4054-973E-D0E7D6132183}" presName="text_5" presStyleLbl="node1" presStyleIdx="4" presStyleCnt="5" custScaleY="83816" custLinFactNeighborY="19602">
        <dgm:presLayoutVars>
          <dgm:bulletEnabled val="1"/>
        </dgm:presLayoutVars>
      </dgm:prSet>
      <dgm:spPr/>
    </dgm:pt>
    <dgm:pt modelId="{DDD2E4A3-2E3D-4538-8478-F259B636E1B8}" type="pres">
      <dgm:prSet presAssocID="{C9D52D5D-8B36-4054-973E-D0E7D6132183}" presName="accent_5" presStyleCnt="0"/>
      <dgm:spPr/>
    </dgm:pt>
    <dgm:pt modelId="{2F21EFAF-9782-4287-BA5B-FB02FCCFF5C8}" type="pres">
      <dgm:prSet presAssocID="{C9D52D5D-8B36-4054-973E-D0E7D6132183}" presName="accentRepeatNode" presStyleLbl="solidFgAcc1" presStyleIdx="4" presStyleCnt="5" custScaleX="89296" custScaleY="91037" custLinFactNeighborY="15686"/>
      <dgm:spPr/>
    </dgm:pt>
  </dgm:ptLst>
  <dgm:cxnLst>
    <dgm:cxn modelId="{5663AA01-6B8D-4AEC-9F1D-81501F462859}" srcId="{28BC9DEB-8377-4386-AE7D-FD4B94764354}" destId="{CAD5F479-9349-4A5D-B19B-6AA1FCA250BE}" srcOrd="0" destOrd="0" parTransId="{2540A25B-B99E-4DCE-913A-CF37A9937E95}" sibTransId="{8D4D8076-0B20-46E1-BB43-1DA332703004}"/>
    <dgm:cxn modelId="{DE10C80E-2531-41F3-94DF-DDB4C3B65E9D}" type="presOf" srcId="{B32AFF46-CF82-4909-B693-2C5CB4483D70}" destId="{11D01129-A5AC-4E63-B59D-E0EFE8568307}" srcOrd="0" destOrd="0" presId="urn:microsoft.com/office/officeart/2008/layout/VerticalCurvedList"/>
    <dgm:cxn modelId="{BB05CE11-CB72-43FE-8067-6EA855580F26}" srcId="{28BC9DEB-8377-4386-AE7D-FD4B94764354}" destId="{E7B4FA8C-8792-4630-B96D-5C94111D7882}" srcOrd="3" destOrd="0" parTransId="{E670A8C2-3944-4020-905D-81C63E844781}" sibTransId="{10177A5E-B58B-4E78-8232-9B7066E7FC8A}"/>
    <dgm:cxn modelId="{AFEED016-D212-4111-BCD5-BDF601ED5A50}" srcId="{28BC9DEB-8377-4386-AE7D-FD4B94764354}" destId="{C3D577DD-A6D6-4492-A649-CAF861B4F4AC}" srcOrd="2" destOrd="0" parTransId="{762FCCC5-2529-463F-9097-AC08E37381F6}" sibTransId="{01008548-1FCA-4F2B-8EAF-D8E4C0614C73}"/>
    <dgm:cxn modelId="{8B0FE921-3ED1-40DF-90F9-018C9AD5C522}" type="presOf" srcId="{C3D577DD-A6D6-4492-A649-CAF861B4F4AC}" destId="{3EEB5E01-B96F-49CF-8544-9A9771F7DD8F}" srcOrd="0" destOrd="0" presId="urn:microsoft.com/office/officeart/2008/layout/VerticalCurvedList"/>
    <dgm:cxn modelId="{5F28AA32-D86B-4E99-8E4C-EACFB803DAFE}" type="presOf" srcId="{CAD5F479-9349-4A5D-B19B-6AA1FCA250BE}" destId="{2CDBE3B6-4CC7-42DF-B5A7-FAC7FE561486}" srcOrd="0" destOrd="0" presId="urn:microsoft.com/office/officeart/2008/layout/VerticalCurvedList"/>
    <dgm:cxn modelId="{7DB9F239-C9A1-463D-BF46-AC956A9E7D0A}" srcId="{28BC9DEB-8377-4386-AE7D-FD4B94764354}" destId="{C9D52D5D-8B36-4054-973E-D0E7D6132183}" srcOrd="4" destOrd="0" parTransId="{6D3DA640-6556-4A5D-9511-B83299F6E5E5}" sibTransId="{EB73BED2-6C5F-4744-B85A-F32DE90E9CE8}"/>
    <dgm:cxn modelId="{7BD7E656-B45E-4411-98A1-BCB7C32F41CC}" type="presOf" srcId="{8D4D8076-0B20-46E1-BB43-1DA332703004}" destId="{09D8A080-17B3-4CC4-A46E-EAC9813A7907}" srcOrd="0" destOrd="0" presId="urn:microsoft.com/office/officeart/2008/layout/VerticalCurvedList"/>
    <dgm:cxn modelId="{C2768688-D621-45EC-B474-185060A23306}" srcId="{28BC9DEB-8377-4386-AE7D-FD4B94764354}" destId="{B32AFF46-CF82-4909-B693-2C5CB4483D70}" srcOrd="1" destOrd="0" parTransId="{E9F715D9-CFBF-41EE-AE99-CF31CBA76980}" sibTransId="{A5E2ECD5-ECD9-469D-A1F8-04E3265DE5CA}"/>
    <dgm:cxn modelId="{500424BD-D567-4838-B7A3-3B500BE1C187}" type="presOf" srcId="{C9D52D5D-8B36-4054-973E-D0E7D6132183}" destId="{910A612B-1DFE-4E25-88D0-E444ECE356D3}" srcOrd="0" destOrd="0" presId="urn:microsoft.com/office/officeart/2008/layout/VerticalCurvedList"/>
    <dgm:cxn modelId="{88C4D8BE-2157-4B67-92B4-37FC1976A57F}" type="presOf" srcId="{E7B4FA8C-8792-4630-B96D-5C94111D7882}" destId="{EF742F17-1A1A-4AFD-81E8-B30F7CB904BF}" srcOrd="0" destOrd="0" presId="urn:microsoft.com/office/officeart/2008/layout/VerticalCurvedList"/>
    <dgm:cxn modelId="{481188E2-E52A-4347-8F0B-47FFF5A5E821}" type="presOf" srcId="{28BC9DEB-8377-4386-AE7D-FD4B94764354}" destId="{F39DDD8F-249F-4022-9D11-73AE7ED89CAC}" srcOrd="0" destOrd="0" presId="urn:microsoft.com/office/officeart/2008/layout/VerticalCurvedList"/>
    <dgm:cxn modelId="{1DA5456C-ECF9-49D2-9B40-C887C6D48334}" type="presParOf" srcId="{F39DDD8F-249F-4022-9D11-73AE7ED89CAC}" destId="{3A4F6E71-C86D-4360-90DE-17705A9E8AE6}" srcOrd="0" destOrd="0" presId="urn:microsoft.com/office/officeart/2008/layout/VerticalCurvedList"/>
    <dgm:cxn modelId="{DA6B5B62-C5A6-4A4B-A244-B9069B1EF1C3}" type="presParOf" srcId="{3A4F6E71-C86D-4360-90DE-17705A9E8AE6}" destId="{190D553E-CE52-4FAE-828F-2A3F900E38BB}" srcOrd="0" destOrd="0" presId="urn:microsoft.com/office/officeart/2008/layout/VerticalCurvedList"/>
    <dgm:cxn modelId="{E3B55D50-7166-492B-8B31-28B40F573D83}" type="presParOf" srcId="{190D553E-CE52-4FAE-828F-2A3F900E38BB}" destId="{26558EE2-DC09-4CDD-AA40-5D03214E38C0}" srcOrd="0" destOrd="0" presId="urn:microsoft.com/office/officeart/2008/layout/VerticalCurvedList"/>
    <dgm:cxn modelId="{685F1C04-7568-4C36-A0F1-A7D0E244C1A1}" type="presParOf" srcId="{190D553E-CE52-4FAE-828F-2A3F900E38BB}" destId="{09D8A080-17B3-4CC4-A46E-EAC9813A7907}" srcOrd="1" destOrd="0" presId="urn:microsoft.com/office/officeart/2008/layout/VerticalCurvedList"/>
    <dgm:cxn modelId="{9425D5AA-7C57-4413-B674-8F8C20F7DC1B}" type="presParOf" srcId="{190D553E-CE52-4FAE-828F-2A3F900E38BB}" destId="{5D05EB06-04B0-446B-95DB-81BD53C2807F}" srcOrd="2" destOrd="0" presId="urn:microsoft.com/office/officeart/2008/layout/VerticalCurvedList"/>
    <dgm:cxn modelId="{7AE5B648-05E0-492D-AFB5-98CEEFE06B25}" type="presParOf" srcId="{190D553E-CE52-4FAE-828F-2A3F900E38BB}" destId="{F68859BD-DC03-4D84-8F76-D668A6C42D33}" srcOrd="3" destOrd="0" presId="urn:microsoft.com/office/officeart/2008/layout/VerticalCurvedList"/>
    <dgm:cxn modelId="{B3A0F77E-D3C8-4420-8919-3C7B4067BDCF}" type="presParOf" srcId="{3A4F6E71-C86D-4360-90DE-17705A9E8AE6}" destId="{2CDBE3B6-4CC7-42DF-B5A7-FAC7FE561486}" srcOrd="1" destOrd="0" presId="urn:microsoft.com/office/officeart/2008/layout/VerticalCurvedList"/>
    <dgm:cxn modelId="{473DFF62-E1AE-495C-875D-6740E263B3B5}" type="presParOf" srcId="{3A4F6E71-C86D-4360-90DE-17705A9E8AE6}" destId="{42DA7466-4098-4112-9C81-0676485B2FC0}" srcOrd="2" destOrd="0" presId="urn:microsoft.com/office/officeart/2008/layout/VerticalCurvedList"/>
    <dgm:cxn modelId="{72C2DBDC-B905-4B86-B3C7-214048E4A5E9}" type="presParOf" srcId="{42DA7466-4098-4112-9C81-0676485B2FC0}" destId="{6CE0CFB2-603E-40B7-A0DC-8ED90D955A4E}" srcOrd="0" destOrd="0" presId="urn:microsoft.com/office/officeart/2008/layout/VerticalCurvedList"/>
    <dgm:cxn modelId="{07A2535D-61F4-4F91-90BC-97A9E9A95DDE}" type="presParOf" srcId="{3A4F6E71-C86D-4360-90DE-17705A9E8AE6}" destId="{11D01129-A5AC-4E63-B59D-E0EFE8568307}" srcOrd="3" destOrd="0" presId="urn:microsoft.com/office/officeart/2008/layout/VerticalCurvedList"/>
    <dgm:cxn modelId="{571C2F0B-190C-4BB8-A599-955DADD560BB}" type="presParOf" srcId="{3A4F6E71-C86D-4360-90DE-17705A9E8AE6}" destId="{C7C84CA8-82F0-427E-A8AB-840CF4B3F809}" srcOrd="4" destOrd="0" presId="urn:microsoft.com/office/officeart/2008/layout/VerticalCurvedList"/>
    <dgm:cxn modelId="{C1F0A56F-24B0-489F-B2B0-60E3D0970634}" type="presParOf" srcId="{C7C84CA8-82F0-427E-A8AB-840CF4B3F809}" destId="{A352A4C6-2274-495B-A1AA-924BAC10515A}" srcOrd="0" destOrd="0" presId="urn:microsoft.com/office/officeart/2008/layout/VerticalCurvedList"/>
    <dgm:cxn modelId="{3A4D36DA-9625-4253-AB3C-EEB55A6091B2}" type="presParOf" srcId="{3A4F6E71-C86D-4360-90DE-17705A9E8AE6}" destId="{3EEB5E01-B96F-49CF-8544-9A9771F7DD8F}" srcOrd="5" destOrd="0" presId="urn:microsoft.com/office/officeart/2008/layout/VerticalCurvedList"/>
    <dgm:cxn modelId="{DC6BCC61-1B05-4015-AF8F-AF974BC456C7}" type="presParOf" srcId="{3A4F6E71-C86D-4360-90DE-17705A9E8AE6}" destId="{1C50CD97-6970-4B84-B06B-2F0A756570BA}" srcOrd="6" destOrd="0" presId="urn:microsoft.com/office/officeart/2008/layout/VerticalCurvedList"/>
    <dgm:cxn modelId="{77A38487-B654-432A-A153-F45B3A1751B3}" type="presParOf" srcId="{1C50CD97-6970-4B84-B06B-2F0A756570BA}" destId="{D760E5EF-E493-4ACD-ABAC-E70F0F6B54B6}" srcOrd="0" destOrd="0" presId="urn:microsoft.com/office/officeart/2008/layout/VerticalCurvedList"/>
    <dgm:cxn modelId="{F09FD969-2DB8-43E1-8A96-EFA73CDD8B8C}" type="presParOf" srcId="{3A4F6E71-C86D-4360-90DE-17705A9E8AE6}" destId="{EF742F17-1A1A-4AFD-81E8-B30F7CB904BF}" srcOrd="7" destOrd="0" presId="urn:microsoft.com/office/officeart/2008/layout/VerticalCurvedList"/>
    <dgm:cxn modelId="{DAC0FCAE-0EB9-420E-94EA-D7ADE7F712A9}" type="presParOf" srcId="{3A4F6E71-C86D-4360-90DE-17705A9E8AE6}" destId="{9F1B800F-B427-438E-8BD9-728BCAEFF05F}" srcOrd="8" destOrd="0" presId="urn:microsoft.com/office/officeart/2008/layout/VerticalCurvedList"/>
    <dgm:cxn modelId="{62565CC5-E90B-4C67-841C-68D01BE2EE56}" type="presParOf" srcId="{9F1B800F-B427-438E-8BD9-728BCAEFF05F}" destId="{982FB3BC-3768-44B6-9D1A-373222B8C2F6}" srcOrd="0" destOrd="0" presId="urn:microsoft.com/office/officeart/2008/layout/VerticalCurvedList"/>
    <dgm:cxn modelId="{EF988920-5E12-4F84-8F6E-359B306FC2D0}" type="presParOf" srcId="{3A4F6E71-C86D-4360-90DE-17705A9E8AE6}" destId="{910A612B-1DFE-4E25-88D0-E444ECE356D3}" srcOrd="9" destOrd="0" presId="urn:microsoft.com/office/officeart/2008/layout/VerticalCurvedList"/>
    <dgm:cxn modelId="{DD1332BD-7C94-45BD-BA03-AB863A36C6D1}" type="presParOf" srcId="{3A4F6E71-C86D-4360-90DE-17705A9E8AE6}" destId="{DDD2E4A3-2E3D-4538-8478-F259B636E1B8}" srcOrd="10" destOrd="0" presId="urn:microsoft.com/office/officeart/2008/layout/VerticalCurvedList"/>
    <dgm:cxn modelId="{A7787747-5B75-4FE2-827B-7A99F88875D3}" type="presParOf" srcId="{DDD2E4A3-2E3D-4538-8478-F259B636E1B8}" destId="{2F21EFAF-9782-4287-BA5B-FB02FCCFF5C8}"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12A839-35A0-4DDF-AEF2-CA2F2DD6BD87}">
      <dsp:nvSpPr>
        <dsp:cNvPr id="0" name=""/>
        <dsp:cNvSpPr/>
      </dsp:nvSpPr>
      <dsp:spPr>
        <a:xfrm>
          <a:off x="3944" y="84923"/>
          <a:ext cx="2636043" cy="158162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CM" sz="2800" kern="1200" dirty="0"/>
            <a:t>Introduction</a:t>
          </a:r>
        </a:p>
      </dsp:txBody>
      <dsp:txXfrm>
        <a:off x="50268" y="131247"/>
        <a:ext cx="2543395" cy="1488978"/>
      </dsp:txXfrm>
    </dsp:sp>
    <dsp:sp modelId="{26DB8B94-6157-416B-8339-BA81A5D420EE}">
      <dsp:nvSpPr>
        <dsp:cNvPr id="0" name=""/>
        <dsp:cNvSpPr/>
      </dsp:nvSpPr>
      <dsp:spPr>
        <a:xfrm>
          <a:off x="2871959" y="548866"/>
          <a:ext cx="558841" cy="65373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fr-CM" sz="3100" kern="1200"/>
        </a:p>
      </dsp:txBody>
      <dsp:txXfrm>
        <a:off x="2871959" y="679614"/>
        <a:ext cx="391189" cy="392242"/>
      </dsp:txXfrm>
    </dsp:sp>
    <dsp:sp modelId="{8427B0A2-E7F9-473C-A3C8-1E93B7345FCD}">
      <dsp:nvSpPr>
        <dsp:cNvPr id="0" name=""/>
        <dsp:cNvSpPr/>
      </dsp:nvSpPr>
      <dsp:spPr>
        <a:xfrm>
          <a:off x="3694405" y="84923"/>
          <a:ext cx="3134809" cy="158162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CM" sz="2800" kern="1200" dirty="0"/>
            <a:t>Objectifs du projet</a:t>
          </a:r>
        </a:p>
      </dsp:txBody>
      <dsp:txXfrm>
        <a:off x="3740729" y="131247"/>
        <a:ext cx="3042161" cy="1488978"/>
      </dsp:txXfrm>
    </dsp:sp>
    <dsp:sp modelId="{6DDD0369-1C4C-4C35-9CD2-17CE723817D5}">
      <dsp:nvSpPr>
        <dsp:cNvPr id="0" name=""/>
        <dsp:cNvSpPr/>
      </dsp:nvSpPr>
      <dsp:spPr>
        <a:xfrm>
          <a:off x="7061186" y="548866"/>
          <a:ext cx="558841" cy="65373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fr-CM" sz="3100" kern="1200"/>
        </a:p>
      </dsp:txBody>
      <dsp:txXfrm>
        <a:off x="7061186" y="679614"/>
        <a:ext cx="391189" cy="392242"/>
      </dsp:txXfrm>
    </dsp:sp>
    <dsp:sp modelId="{0CE6B18D-D97F-469E-8A25-AB75756C1462}">
      <dsp:nvSpPr>
        <dsp:cNvPr id="0" name=""/>
        <dsp:cNvSpPr/>
      </dsp:nvSpPr>
      <dsp:spPr>
        <a:xfrm>
          <a:off x="7883632" y="84923"/>
          <a:ext cx="2636043" cy="158162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CM" sz="2800" kern="1200" dirty="0">
              <a:latin typeface="Times New Roman" panose="02020603050405020304" pitchFamily="18" charset="0"/>
              <a:cs typeface="Times New Roman" panose="02020603050405020304" pitchFamily="18" charset="0"/>
            </a:rPr>
            <a:t>Besoins fonctionnels</a:t>
          </a:r>
        </a:p>
      </dsp:txBody>
      <dsp:txXfrm>
        <a:off x="7929956" y="131247"/>
        <a:ext cx="2543395" cy="1488978"/>
      </dsp:txXfrm>
    </dsp:sp>
    <dsp:sp modelId="{84265C8C-FE9A-41DA-A9CC-2804226E0E0B}">
      <dsp:nvSpPr>
        <dsp:cNvPr id="0" name=""/>
        <dsp:cNvSpPr/>
      </dsp:nvSpPr>
      <dsp:spPr>
        <a:xfrm rot="5400000">
          <a:off x="8922233" y="1851072"/>
          <a:ext cx="558841" cy="65373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fr-CM" sz="3100" kern="1200"/>
        </a:p>
      </dsp:txBody>
      <dsp:txXfrm rot="-5400000">
        <a:off x="9005533" y="1898520"/>
        <a:ext cx="392242" cy="391189"/>
      </dsp:txXfrm>
    </dsp:sp>
    <dsp:sp modelId="{1878E6A2-730B-432D-8D64-B9C33E6CA09C}">
      <dsp:nvSpPr>
        <dsp:cNvPr id="0" name=""/>
        <dsp:cNvSpPr/>
      </dsp:nvSpPr>
      <dsp:spPr>
        <a:xfrm>
          <a:off x="7883632" y="2720966"/>
          <a:ext cx="2636043" cy="158162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FR" sz="2800" kern="1200" dirty="0">
              <a:latin typeface="Times New Roman" panose="02020603050405020304" pitchFamily="18" charset="0"/>
              <a:cs typeface="Times New Roman" panose="02020603050405020304" pitchFamily="18" charset="0"/>
            </a:rPr>
            <a:t>Diagramme de cas d'utilisation</a:t>
          </a:r>
          <a:endParaRPr lang="fr-CM" sz="2800" kern="1200" dirty="0">
            <a:latin typeface="Times New Roman" panose="02020603050405020304" pitchFamily="18" charset="0"/>
            <a:cs typeface="Times New Roman" panose="02020603050405020304" pitchFamily="18" charset="0"/>
          </a:endParaRPr>
        </a:p>
      </dsp:txBody>
      <dsp:txXfrm>
        <a:off x="7929956" y="2767290"/>
        <a:ext cx="2543395" cy="1488978"/>
      </dsp:txXfrm>
    </dsp:sp>
    <dsp:sp modelId="{90FAD519-ADB6-4382-9053-ED6BC025ADE9}">
      <dsp:nvSpPr>
        <dsp:cNvPr id="0" name=""/>
        <dsp:cNvSpPr/>
      </dsp:nvSpPr>
      <dsp:spPr>
        <a:xfrm rot="10800000">
          <a:off x="7092818" y="3184910"/>
          <a:ext cx="558841" cy="65373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fr-CM" sz="3100" kern="1200"/>
        </a:p>
      </dsp:txBody>
      <dsp:txXfrm rot="10800000">
        <a:off x="7260470" y="3315658"/>
        <a:ext cx="391189" cy="392242"/>
      </dsp:txXfrm>
    </dsp:sp>
    <dsp:sp modelId="{6BB50A06-BA1E-4120-AF2B-B1103ED2CA45}">
      <dsp:nvSpPr>
        <dsp:cNvPr id="0" name=""/>
        <dsp:cNvSpPr/>
      </dsp:nvSpPr>
      <dsp:spPr>
        <a:xfrm>
          <a:off x="4193171" y="2720966"/>
          <a:ext cx="2636043" cy="158162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FR" sz="2800" kern="1200" dirty="0">
              <a:latin typeface="Times New Roman" panose="02020603050405020304" pitchFamily="18" charset="0"/>
              <a:cs typeface="Times New Roman" panose="02020603050405020304" pitchFamily="18" charset="0"/>
            </a:rPr>
            <a:t>Description de cas d'utilisation</a:t>
          </a:r>
          <a:endParaRPr lang="fr-CM" sz="2800" kern="1200" dirty="0">
            <a:latin typeface="Times New Roman" panose="02020603050405020304" pitchFamily="18" charset="0"/>
            <a:cs typeface="Times New Roman" panose="02020603050405020304" pitchFamily="18" charset="0"/>
          </a:endParaRPr>
        </a:p>
      </dsp:txBody>
      <dsp:txXfrm>
        <a:off x="4239495" y="2767290"/>
        <a:ext cx="2543395" cy="1488978"/>
      </dsp:txXfrm>
    </dsp:sp>
    <dsp:sp modelId="{0E342CEE-59D8-44A6-B48B-9FB8EE1A6AE9}">
      <dsp:nvSpPr>
        <dsp:cNvPr id="0" name=""/>
        <dsp:cNvSpPr/>
      </dsp:nvSpPr>
      <dsp:spPr>
        <a:xfrm rot="10800000">
          <a:off x="3402358" y="3184910"/>
          <a:ext cx="558841" cy="65373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fr-CM" sz="3100" kern="1200"/>
        </a:p>
      </dsp:txBody>
      <dsp:txXfrm rot="10800000">
        <a:off x="3570010" y="3315658"/>
        <a:ext cx="391189" cy="392242"/>
      </dsp:txXfrm>
    </dsp:sp>
    <dsp:sp modelId="{CDB92376-0AF7-453F-BE0B-197A8E2B5546}">
      <dsp:nvSpPr>
        <dsp:cNvPr id="0" name=""/>
        <dsp:cNvSpPr/>
      </dsp:nvSpPr>
      <dsp:spPr>
        <a:xfrm>
          <a:off x="502710" y="2720966"/>
          <a:ext cx="2636043" cy="158162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CM" sz="2800" kern="1200" dirty="0">
              <a:latin typeface="Times New Roman" panose="02020603050405020304" pitchFamily="18" charset="0"/>
              <a:cs typeface="Times New Roman" panose="02020603050405020304" pitchFamily="18" charset="0"/>
            </a:rPr>
            <a:t>Conclusion</a:t>
          </a:r>
        </a:p>
      </dsp:txBody>
      <dsp:txXfrm>
        <a:off x="549034" y="2767290"/>
        <a:ext cx="2543395" cy="14889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D8A080-17B3-4CC4-A46E-EAC9813A7907}">
      <dsp:nvSpPr>
        <dsp:cNvPr id="0" name=""/>
        <dsp:cNvSpPr/>
      </dsp:nvSpPr>
      <dsp:spPr>
        <a:xfrm>
          <a:off x="-4547637" y="-697308"/>
          <a:ext cx="5417342" cy="5417342"/>
        </a:xfrm>
        <a:prstGeom prst="blockArc">
          <a:avLst>
            <a:gd name="adj1" fmla="val 18900000"/>
            <a:gd name="adj2" fmla="val 2700000"/>
            <a:gd name="adj3" fmla="val 399"/>
          </a:avLst>
        </a:prstGeom>
        <a:noFill/>
        <a:ln w="15875" cap="flat" cmpd="sng" algn="ctr">
          <a:solidFill>
            <a:schemeClr val="accent1">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DBE3B6-4CC7-42DF-B5A7-FAC7FE561486}">
      <dsp:nvSpPr>
        <dsp:cNvPr id="0" name=""/>
        <dsp:cNvSpPr/>
      </dsp:nvSpPr>
      <dsp:spPr>
        <a:xfrm>
          <a:off x="380724" y="251339"/>
          <a:ext cx="9285003" cy="503001"/>
        </a:xfrm>
        <a:prstGeom prst="rect">
          <a:avLst/>
        </a:prstGeom>
        <a:gradFill rotWithShape="0">
          <a:gsLst>
            <a:gs pos="0">
              <a:schemeClr val="accent1">
                <a:shade val="50000"/>
                <a:hueOff val="0"/>
                <a:satOff val="0"/>
                <a:lumOff val="0"/>
                <a:alphaOff val="0"/>
                <a:tint val="100000"/>
                <a:shade val="85000"/>
                <a:satMod val="100000"/>
                <a:lumMod val="100000"/>
              </a:schemeClr>
            </a:gs>
            <a:gs pos="100000">
              <a:schemeClr val="accent1">
                <a:shade val="50000"/>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399257" tIns="71120" rIns="71120" bIns="71120" numCol="1" spcCol="1270" anchor="ctr" anchorCtr="0">
          <a:noAutofit/>
        </a:bodyPr>
        <a:lstStyle/>
        <a:p>
          <a:pPr marL="0" lvl="0" indent="0" algn="l" defTabSz="1244600">
            <a:lnSpc>
              <a:spcPct val="90000"/>
            </a:lnSpc>
            <a:spcBef>
              <a:spcPct val="0"/>
            </a:spcBef>
            <a:spcAft>
              <a:spcPct val="35000"/>
            </a:spcAft>
            <a:buNone/>
          </a:pPr>
          <a:r>
            <a:rPr lang="fr-CM" sz="2800" kern="1200" dirty="0"/>
            <a:t>Afficher la liste des projets</a:t>
          </a:r>
        </a:p>
      </dsp:txBody>
      <dsp:txXfrm>
        <a:off x="380724" y="251339"/>
        <a:ext cx="9285003" cy="503001"/>
      </dsp:txXfrm>
    </dsp:sp>
    <dsp:sp modelId="{6CE0CFB2-603E-40B7-A0DC-8ED90D955A4E}">
      <dsp:nvSpPr>
        <dsp:cNvPr id="0" name=""/>
        <dsp:cNvSpPr/>
      </dsp:nvSpPr>
      <dsp:spPr>
        <a:xfrm>
          <a:off x="66348" y="188464"/>
          <a:ext cx="628751" cy="628751"/>
        </a:xfrm>
        <a:prstGeom prst="ellipse">
          <a:avLst/>
        </a:prstGeom>
        <a:solidFill>
          <a:schemeClr val="lt1">
            <a:hueOff val="0"/>
            <a:satOff val="0"/>
            <a:lumOff val="0"/>
            <a:alphaOff val="0"/>
          </a:schemeClr>
        </a:solidFill>
        <a:ln w="9525" cap="flat" cmpd="sng" algn="ctr">
          <a:solidFill>
            <a:schemeClr val="accent1">
              <a:shade val="50000"/>
              <a:hueOff val="0"/>
              <a:satOff val="0"/>
              <a:lumOff val="0"/>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 modelId="{11D01129-A5AC-4E63-B59D-E0EFE8568307}">
      <dsp:nvSpPr>
        <dsp:cNvPr id="0" name=""/>
        <dsp:cNvSpPr/>
      </dsp:nvSpPr>
      <dsp:spPr>
        <a:xfrm>
          <a:off x="741160" y="1005600"/>
          <a:ext cx="8924566" cy="503001"/>
        </a:xfrm>
        <a:prstGeom prst="rect">
          <a:avLst/>
        </a:prstGeom>
        <a:gradFill rotWithShape="0">
          <a:gsLst>
            <a:gs pos="0">
              <a:schemeClr val="accent1">
                <a:shade val="50000"/>
                <a:hueOff val="211926"/>
                <a:satOff val="-5287"/>
                <a:lumOff val="18501"/>
                <a:alphaOff val="0"/>
                <a:tint val="100000"/>
                <a:shade val="85000"/>
                <a:satMod val="100000"/>
                <a:lumMod val="100000"/>
              </a:schemeClr>
            </a:gs>
            <a:gs pos="100000">
              <a:schemeClr val="accent1">
                <a:shade val="50000"/>
                <a:hueOff val="211926"/>
                <a:satOff val="-5287"/>
                <a:lumOff val="18501"/>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211926"/>
              <a:satOff val="-5287"/>
              <a:lumOff val="18501"/>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399257" tIns="71120" rIns="71120" bIns="71120" numCol="1" spcCol="1270" anchor="ctr" anchorCtr="0">
          <a:noAutofit/>
        </a:bodyPr>
        <a:lstStyle/>
        <a:p>
          <a:pPr marL="0" lvl="0" indent="0" algn="l" defTabSz="1244600">
            <a:lnSpc>
              <a:spcPct val="90000"/>
            </a:lnSpc>
            <a:spcBef>
              <a:spcPct val="0"/>
            </a:spcBef>
            <a:spcAft>
              <a:spcPct val="35000"/>
            </a:spcAft>
            <a:buNone/>
          </a:pPr>
          <a:r>
            <a:rPr lang="fr-CM" sz="2800" kern="1200" dirty="0"/>
            <a:t>Afficher</a:t>
          </a:r>
          <a:r>
            <a:rPr lang="fr-CM" sz="2800" kern="1200" baseline="0" dirty="0"/>
            <a:t> les détails d’un projet</a:t>
          </a:r>
          <a:endParaRPr lang="fr-CM" sz="2800" kern="1200" dirty="0"/>
        </a:p>
      </dsp:txBody>
      <dsp:txXfrm>
        <a:off x="741160" y="1005600"/>
        <a:ext cx="8924566" cy="503001"/>
      </dsp:txXfrm>
    </dsp:sp>
    <dsp:sp modelId="{A352A4C6-2274-495B-A1AA-924BAC10515A}">
      <dsp:nvSpPr>
        <dsp:cNvPr id="0" name=""/>
        <dsp:cNvSpPr/>
      </dsp:nvSpPr>
      <dsp:spPr>
        <a:xfrm>
          <a:off x="426784" y="942725"/>
          <a:ext cx="628751" cy="628751"/>
        </a:xfrm>
        <a:prstGeom prst="ellipse">
          <a:avLst/>
        </a:prstGeom>
        <a:solidFill>
          <a:schemeClr val="lt1">
            <a:hueOff val="0"/>
            <a:satOff val="0"/>
            <a:lumOff val="0"/>
            <a:alphaOff val="0"/>
          </a:schemeClr>
        </a:solidFill>
        <a:ln w="9525" cap="flat" cmpd="sng" algn="ctr">
          <a:solidFill>
            <a:schemeClr val="accent1">
              <a:shade val="50000"/>
              <a:hueOff val="211926"/>
              <a:satOff val="-5287"/>
              <a:lumOff val="18501"/>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 modelId="{0B2674AF-5FAC-4F5C-A994-2B1EB6AA41A3}">
      <dsp:nvSpPr>
        <dsp:cNvPr id="0" name=""/>
        <dsp:cNvSpPr/>
      </dsp:nvSpPr>
      <dsp:spPr>
        <a:xfrm>
          <a:off x="851785" y="1759861"/>
          <a:ext cx="8813942" cy="503001"/>
        </a:xfrm>
        <a:prstGeom prst="rect">
          <a:avLst/>
        </a:prstGeom>
        <a:gradFill rotWithShape="0">
          <a:gsLst>
            <a:gs pos="0">
              <a:schemeClr val="accent1">
                <a:shade val="50000"/>
                <a:hueOff val="423851"/>
                <a:satOff val="-10574"/>
                <a:lumOff val="37002"/>
                <a:alphaOff val="0"/>
                <a:tint val="100000"/>
                <a:shade val="85000"/>
                <a:satMod val="100000"/>
                <a:lumMod val="100000"/>
              </a:schemeClr>
            </a:gs>
            <a:gs pos="100000">
              <a:schemeClr val="accent1">
                <a:shade val="50000"/>
                <a:hueOff val="423851"/>
                <a:satOff val="-10574"/>
                <a:lumOff val="37002"/>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423851"/>
              <a:satOff val="-10574"/>
              <a:lumOff val="37002"/>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399257" tIns="71120" rIns="71120" bIns="71120" numCol="1" spcCol="1270" anchor="ctr" anchorCtr="0">
          <a:noAutofit/>
        </a:bodyPr>
        <a:lstStyle/>
        <a:p>
          <a:pPr marL="0" lvl="0" indent="0" algn="l" defTabSz="1244600">
            <a:lnSpc>
              <a:spcPct val="90000"/>
            </a:lnSpc>
            <a:spcBef>
              <a:spcPct val="0"/>
            </a:spcBef>
            <a:spcAft>
              <a:spcPct val="35000"/>
            </a:spcAft>
            <a:buNone/>
          </a:pPr>
          <a:r>
            <a:rPr lang="fr-CM" sz="2800" kern="1200" dirty="0"/>
            <a:t>Afficher</a:t>
          </a:r>
          <a:r>
            <a:rPr lang="fr-CM" sz="2800" kern="1200" baseline="0" dirty="0"/>
            <a:t> les métriques d’une ressource</a:t>
          </a:r>
          <a:endParaRPr lang="fr-CM" sz="2800" kern="1200" dirty="0"/>
        </a:p>
      </dsp:txBody>
      <dsp:txXfrm>
        <a:off x="851785" y="1759861"/>
        <a:ext cx="8813942" cy="503001"/>
      </dsp:txXfrm>
    </dsp:sp>
    <dsp:sp modelId="{3DCC4208-6328-47BB-8061-729D4761B80A}">
      <dsp:nvSpPr>
        <dsp:cNvPr id="0" name=""/>
        <dsp:cNvSpPr/>
      </dsp:nvSpPr>
      <dsp:spPr>
        <a:xfrm>
          <a:off x="537409" y="1696986"/>
          <a:ext cx="628751" cy="628751"/>
        </a:xfrm>
        <a:prstGeom prst="ellipse">
          <a:avLst/>
        </a:prstGeom>
        <a:solidFill>
          <a:schemeClr val="lt1">
            <a:hueOff val="0"/>
            <a:satOff val="0"/>
            <a:lumOff val="0"/>
            <a:alphaOff val="0"/>
          </a:schemeClr>
        </a:solidFill>
        <a:ln w="9525" cap="flat" cmpd="sng" algn="ctr">
          <a:solidFill>
            <a:schemeClr val="accent1">
              <a:shade val="50000"/>
              <a:hueOff val="423851"/>
              <a:satOff val="-10574"/>
              <a:lumOff val="37002"/>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 modelId="{15F1A9F6-4A36-49A3-AABA-DAC588478651}">
      <dsp:nvSpPr>
        <dsp:cNvPr id="0" name=""/>
        <dsp:cNvSpPr/>
      </dsp:nvSpPr>
      <dsp:spPr>
        <a:xfrm>
          <a:off x="741160" y="2514122"/>
          <a:ext cx="8924566" cy="503001"/>
        </a:xfrm>
        <a:prstGeom prst="rect">
          <a:avLst/>
        </a:prstGeom>
        <a:gradFill rotWithShape="0">
          <a:gsLst>
            <a:gs pos="0">
              <a:schemeClr val="accent1">
                <a:shade val="50000"/>
                <a:hueOff val="423851"/>
                <a:satOff val="-10574"/>
                <a:lumOff val="37002"/>
                <a:alphaOff val="0"/>
                <a:tint val="100000"/>
                <a:shade val="85000"/>
                <a:satMod val="100000"/>
                <a:lumMod val="100000"/>
              </a:schemeClr>
            </a:gs>
            <a:gs pos="100000">
              <a:schemeClr val="accent1">
                <a:shade val="50000"/>
                <a:hueOff val="423851"/>
                <a:satOff val="-10574"/>
                <a:lumOff val="37002"/>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423851"/>
              <a:satOff val="-10574"/>
              <a:lumOff val="37002"/>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399257" tIns="71120" rIns="71120" bIns="71120" numCol="1" spcCol="1270" anchor="ctr" anchorCtr="0">
          <a:noAutofit/>
        </a:bodyPr>
        <a:lstStyle/>
        <a:p>
          <a:pPr marL="0" lvl="0" indent="0" algn="l" defTabSz="1244600">
            <a:lnSpc>
              <a:spcPct val="90000"/>
            </a:lnSpc>
            <a:spcBef>
              <a:spcPct val="0"/>
            </a:spcBef>
            <a:spcAft>
              <a:spcPct val="35000"/>
            </a:spcAft>
            <a:buNone/>
          </a:pPr>
          <a:r>
            <a:rPr lang="fr-CM" sz="2800" kern="1200" dirty="0"/>
            <a:t>Afficher</a:t>
          </a:r>
          <a:r>
            <a:rPr lang="fr-CM" sz="2800" kern="1200" baseline="0" dirty="0"/>
            <a:t> les métriques d’un projet</a:t>
          </a:r>
          <a:endParaRPr lang="fr-CM" sz="2800" kern="1200" dirty="0"/>
        </a:p>
      </dsp:txBody>
      <dsp:txXfrm>
        <a:off x="741160" y="2514122"/>
        <a:ext cx="8924566" cy="503001"/>
      </dsp:txXfrm>
    </dsp:sp>
    <dsp:sp modelId="{4C427B33-9AF6-4E86-8903-8D156F68CAC6}">
      <dsp:nvSpPr>
        <dsp:cNvPr id="0" name=""/>
        <dsp:cNvSpPr/>
      </dsp:nvSpPr>
      <dsp:spPr>
        <a:xfrm>
          <a:off x="426784" y="2451247"/>
          <a:ext cx="628751" cy="628751"/>
        </a:xfrm>
        <a:prstGeom prst="ellipse">
          <a:avLst/>
        </a:prstGeom>
        <a:solidFill>
          <a:schemeClr val="lt1">
            <a:hueOff val="0"/>
            <a:satOff val="0"/>
            <a:lumOff val="0"/>
            <a:alphaOff val="0"/>
          </a:schemeClr>
        </a:solidFill>
        <a:ln w="9525" cap="flat" cmpd="sng" algn="ctr">
          <a:solidFill>
            <a:schemeClr val="accent1">
              <a:shade val="50000"/>
              <a:hueOff val="423851"/>
              <a:satOff val="-10574"/>
              <a:lumOff val="37002"/>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 modelId="{74A94A40-643F-4B66-A404-54AE519DE939}">
      <dsp:nvSpPr>
        <dsp:cNvPr id="0" name=""/>
        <dsp:cNvSpPr/>
      </dsp:nvSpPr>
      <dsp:spPr>
        <a:xfrm>
          <a:off x="380724" y="3268383"/>
          <a:ext cx="9285003" cy="503001"/>
        </a:xfrm>
        <a:prstGeom prst="rect">
          <a:avLst/>
        </a:prstGeom>
        <a:gradFill rotWithShape="0">
          <a:gsLst>
            <a:gs pos="0">
              <a:schemeClr val="accent1">
                <a:shade val="50000"/>
                <a:hueOff val="211926"/>
                <a:satOff val="-5287"/>
                <a:lumOff val="18501"/>
                <a:alphaOff val="0"/>
                <a:tint val="100000"/>
                <a:shade val="85000"/>
                <a:satMod val="100000"/>
                <a:lumMod val="100000"/>
              </a:schemeClr>
            </a:gs>
            <a:gs pos="100000">
              <a:schemeClr val="accent1">
                <a:shade val="50000"/>
                <a:hueOff val="211926"/>
                <a:satOff val="-5287"/>
                <a:lumOff val="18501"/>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211926"/>
              <a:satOff val="-5287"/>
              <a:lumOff val="18501"/>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399257" tIns="71120" rIns="71120" bIns="71120" numCol="1" spcCol="1270" anchor="ctr" anchorCtr="0">
          <a:noAutofit/>
        </a:bodyPr>
        <a:lstStyle/>
        <a:p>
          <a:pPr marL="0" lvl="0" indent="0" algn="l" defTabSz="1244600">
            <a:lnSpc>
              <a:spcPct val="90000"/>
            </a:lnSpc>
            <a:spcBef>
              <a:spcPct val="0"/>
            </a:spcBef>
            <a:spcAft>
              <a:spcPct val="35000"/>
            </a:spcAft>
            <a:buNone/>
          </a:pPr>
          <a:r>
            <a:rPr lang="fr-CM" sz="2800" kern="1200" dirty="0"/>
            <a:t>Afficher</a:t>
          </a:r>
          <a:r>
            <a:rPr lang="fr-CM" sz="2800" kern="1200" baseline="0" dirty="0"/>
            <a:t> l’historique des événements</a:t>
          </a:r>
          <a:endParaRPr lang="fr-CM" sz="2800" kern="1200" dirty="0"/>
        </a:p>
      </dsp:txBody>
      <dsp:txXfrm>
        <a:off x="380724" y="3268383"/>
        <a:ext cx="9285003" cy="503001"/>
      </dsp:txXfrm>
    </dsp:sp>
    <dsp:sp modelId="{B81314A7-88CD-4FE9-AE0E-34F7EEB4ED47}">
      <dsp:nvSpPr>
        <dsp:cNvPr id="0" name=""/>
        <dsp:cNvSpPr/>
      </dsp:nvSpPr>
      <dsp:spPr>
        <a:xfrm>
          <a:off x="66348" y="3205508"/>
          <a:ext cx="628751" cy="628751"/>
        </a:xfrm>
        <a:prstGeom prst="ellipse">
          <a:avLst/>
        </a:prstGeom>
        <a:solidFill>
          <a:schemeClr val="lt1">
            <a:hueOff val="0"/>
            <a:satOff val="0"/>
            <a:lumOff val="0"/>
            <a:alphaOff val="0"/>
          </a:schemeClr>
        </a:solidFill>
        <a:ln w="9525" cap="flat" cmpd="sng" algn="ctr">
          <a:solidFill>
            <a:schemeClr val="accent1">
              <a:shade val="50000"/>
              <a:hueOff val="211926"/>
              <a:satOff val="-5287"/>
              <a:lumOff val="18501"/>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D8A080-17B3-4CC4-A46E-EAC9813A7907}">
      <dsp:nvSpPr>
        <dsp:cNvPr id="0" name=""/>
        <dsp:cNvSpPr/>
      </dsp:nvSpPr>
      <dsp:spPr>
        <a:xfrm>
          <a:off x="-5186522" y="-794436"/>
          <a:ext cx="6176291" cy="6176291"/>
        </a:xfrm>
        <a:prstGeom prst="blockArc">
          <a:avLst>
            <a:gd name="adj1" fmla="val 18900000"/>
            <a:gd name="adj2" fmla="val 2700000"/>
            <a:gd name="adj3" fmla="val 350"/>
          </a:avLst>
        </a:prstGeom>
        <a:noFill/>
        <a:ln w="15875" cap="flat" cmpd="sng" algn="ctr">
          <a:solidFill>
            <a:schemeClr val="accent1">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DBE3B6-4CC7-42DF-B5A7-FAC7FE561486}">
      <dsp:nvSpPr>
        <dsp:cNvPr id="0" name=""/>
        <dsp:cNvSpPr/>
      </dsp:nvSpPr>
      <dsp:spPr>
        <a:xfrm>
          <a:off x="423514" y="211390"/>
          <a:ext cx="9297583" cy="501605"/>
        </a:xfrm>
        <a:prstGeom prst="rect">
          <a:avLst/>
        </a:prstGeom>
        <a:gradFill rotWithShape="0">
          <a:gsLst>
            <a:gs pos="0">
              <a:schemeClr val="accent1">
                <a:shade val="50000"/>
                <a:hueOff val="0"/>
                <a:satOff val="0"/>
                <a:lumOff val="0"/>
                <a:alphaOff val="0"/>
                <a:tint val="100000"/>
                <a:shade val="85000"/>
                <a:satMod val="100000"/>
                <a:lumMod val="100000"/>
              </a:schemeClr>
            </a:gs>
            <a:gs pos="100000">
              <a:schemeClr val="accent1">
                <a:shade val="50000"/>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5304" tIns="66040" rIns="66040" bIns="66040" numCol="1" spcCol="1270" anchor="ctr" anchorCtr="0">
          <a:noAutofit/>
        </a:bodyPr>
        <a:lstStyle/>
        <a:p>
          <a:pPr marL="0" lvl="0" indent="0" algn="l" defTabSz="1155700">
            <a:lnSpc>
              <a:spcPct val="90000"/>
            </a:lnSpc>
            <a:spcBef>
              <a:spcPct val="0"/>
            </a:spcBef>
            <a:spcAft>
              <a:spcPct val="35000"/>
            </a:spcAft>
            <a:buNone/>
          </a:pPr>
          <a:r>
            <a:rPr lang="fr-CM" sz="2600" kern="1200" dirty="0"/>
            <a:t>Définir</a:t>
          </a:r>
          <a:r>
            <a:rPr lang="fr-CM" sz="2600" kern="1200" baseline="0" dirty="0"/>
            <a:t> des seuils d’alerte</a:t>
          </a:r>
          <a:endParaRPr lang="fr-CM" sz="2600" kern="1200" dirty="0"/>
        </a:p>
      </dsp:txBody>
      <dsp:txXfrm>
        <a:off x="423514" y="211390"/>
        <a:ext cx="9297583" cy="501605"/>
      </dsp:txXfrm>
    </dsp:sp>
    <dsp:sp modelId="{6CE0CFB2-603E-40B7-A0DC-8ED90D955A4E}">
      <dsp:nvSpPr>
        <dsp:cNvPr id="0" name=""/>
        <dsp:cNvSpPr/>
      </dsp:nvSpPr>
      <dsp:spPr>
        <a:xfrm>
          <a:off x="0" y="135798"/>
          <a:ext cx="640436" cy="652754"/>
        </a:xfrm>
        <a:prstGeom prst="ellipse">
          <a:avLst/>
        </a:prstGeom>
        <a:solidFill>
          <a:schemeClr val="lt1">
            <a:hueOff val="0"/>
            <a:satOff val="0"/>
            <a:lumOff val="0"/>
            <a:alphaOff val="0"/>
          </a:schemeClr>
        </a:solidFill>
        <a:ln w="9525" cap="flat" cmpd="sng" algn="ctr">
          <a:solidFill>
            <a:schemeClr val="accent1">
              <a:shade val="50000"/>
              <a:hueOff val="0"/>
              <a:satOff val="0"/>
              <a:lumOff val="0"/>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 modelId="{11D01129-A5AC-4E63-B59D-E0EFE8568307}">
      <dsp:nvSpPr>
        <dsp:cNvPr id="0" name=""/>
        <dsp:cNvSpPr/>
      </dsp:nvSpPr>
      <dsp:spPr>
        <a:xfrm>
          <a:off x="832652" y="1113335"/>
          <a:ext cx="8886550" cy="478879"/>
        </a:xfrm>
        <a:prstGeom prst="rect">
          <a:avLst/>
        </a:prstGeom>
        <a:gradFill rotWithShape="0">
          <a:gsLst>
            <a:gs pos="0">
              <a:schemeClr val="accent1">
                <a:shade val="50000"/>
                <a:hueOff val="211926"/>
                <a:satOff val="-5287"/>
                <a:lumOff val="18501"/>
                <a:alphaOff val="0"/>
                <a:tint val="100000"/>
                <a:shade val="85000"/>
                <a:satMod val="100000"/>
                <a:lumMod val="100000"/>
              </a:schemeClr>
            </a:gs>
            <a:gs pos="100000">
              <a:schemeClr val="accent1">
                <a:shade val="50000"/>
                <a:hueOff val="211926"/>
                <a:satOff val="-5287"/>
                <a:lumOff val="18501"/>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211926"/>
              <a:satOff val="-5287"/>
              <a:lumOff val="18501"/>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5304" tIns="66040" rIns="66040" bIns="66040" numCol="1" spcCol="1270" anchor="ctr" anchorCtr="0">
          <a:noAutofit/>
        </a:bodyPr>
        <a:lstStyle/>
        <a:p>
          <a:pPr marL="0" lvl="0" indent="0" algn="l" defTabSz="1155700">
            <a:lnSpc>
              <a:spcPct val="90000"/>
            </a:lnSpc>
            <a:spcBef>
              <a:spcPct val="0"/>
            </a:spcBef>
            <a:spcAft>
              <a:spcPct val="35000"/>
            </a:spcAft>
            <a:buNone/>
          </a:pPr>
          <a:r>
            <a:rPr lang="fr-CM" sz="2600" kern="1200" dirty="0"/>
            <a:t>Générer</a:t>
          </a:r>
          <a:r>
            <a:rPr lang="fr-CM" sz="2600" kern="1200" baseline="0" dirty="0"/>
            <a:t> des factures</a:t>
          </a:r>
          <a:endParaRPr lang="fr-CM" sz="2600" kern="1200" dirty="0"/>
        </a:p>
      </dsp:txBody>
      <dsp:txXfrm>
        <a:off x="832652" y="1113335"/>
        <a:ext cx="8886550" cy="478879"/>
      </dsp:txXfrm>
    </dsp:sp>
    <dsp:sp modelId="{A352A4C6-2274-495B-A1AA-924BAC10515A}">
      <dsp:nvSpPr>
        <dsp:cNvPr id="0" name=""/>
        <dsp:cNvSpPr/>
      </dsp:nvSpPr>
      <dsp:spPr>
        <a:xfrm>
          <a:off x="389509" y="1075789"/>
          <a:ext cx="640436" cy="652747"/>
        </a:xfrm>
        <a:prstGeom prst="ellipse">
          <a:avLst/>
        </a:prstGeom>
        <a:solidFill>
          <a:schemeClr val="lt1">
            <a:hueOff val="0"/>
            <a:satOff val="0"/>
            <a:lumOff val="0"/>
            <a:alphaOff val="0"/>
          </a:schemeClr>
        </a:solidFill>
        <a:ln w="9525" cap="flat" cmpd="sng" algn="ctr">
          <a:solidFill>
            <a:schemeClr val="accent1">
              <a:shade val="50000"/>
              <a:hueOff val="211926"/>
              <a:satOff val="-5287"/>
              <a:lumOff val="18501"/>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 modelId="{3EEB5E01-B96F-49CF-8544-9A9771F7DD8F}">
      <dsp:nvSpPr>
        <dsp:cNvPr id="0" name=""/>
        <dsp:cNvSpPr/>
      </dsp:nvSpPr>
      <dsp:spPr>
        <a:xfrm>
          <a:off x="970092" y="2017796"/>
          <a:ext cx="8760396" cy="573610"/>
        </a:xfrm>
        <a:prstGeom prst="rect">
          <a:avLst/>
        </a:prstGeom>
        <a:gradFill rotWithShape="0">
          <a:gsLst>
            <a:gs pos="0">
              <a:schemeClr val="accent1">
                <a:shade val="50000"/>
                <a:hueOff val="423851"/>
                <a:satOff val="-10574"/>
                <a:lumOff val="37002"/>
                <a:alphaOff val="0"/>
                <a:tint val="100000"/>
                <a:shade val="85000"/>
                <a:satMod val="100000"/>
                <a:lumMod val="100000"/>
              </a:schemeClr>
            </a:gs>
            <a:gs pos="100000">
              <a:schemeClr val="accent1">
                <a:shade val="50000"/>
                <a:hueOff val="423851"/>
                <a:satOff val="-10574"/>
                <a:lumOff val="37002"/>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423851"/>
              <a:satOff val="-10574"/>
              <a:lumOff val="37002"/>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5304" tIns="66040" rIns="66040" bIns="66040" numCol="1" spcCol="1270" anchor="ctr" anchorCtr="0">
          <a:noAutofit/>
        </a:bodyPr>
        <a:lstStyle/>
        <a:p>
          <a:pPr marL="0" lvl="0" indent="0" algn="l" defTabSz="1155700">
            <a:lnSpc>
              <a:spcPct val="90000"/>
            </a:lnSpc>
            <a:spcBef>
              <a:spcPct val="0"/>
            </a:spcBef>
            <a:spcAft>
              <a:spcPct val="35000"/>
            </a:spcAft>
            <a:buNone/>
          </a:pPr>
          <a:r>
            <a:rPr lang="fr-CM" sz="2600" kern="1200" dirty="0"/>
            <a:t>Ajouter un plan tarifaire</a:t>
          </a:r>
        </a:p>
      </dsp:txBody>
      <dsp:txXfrm>
        <a:off x="970092" y="2017796"/>
        <a:ext cx="8760396" cy="573610"/>
      </dsp:txXfrm>
    </dsp:sp>
    <dsp:sp modelId="{D760E5EF-E493-4ACD-ABAC-E70F0F6B54B6}">
      <dsp:nvSpPr>
        <dsp:cNvPr id="0" name=""/>
        <dsp:cNvSpPr/>
      </dsp:nvSpPr>
      <dsp:spPr>
        <a:xfrm>
          <a:off x="660621" y="1978219"/>
          <a:ext cx="640436" cy="652747"/>
        </a:xfrm>
        <a:prstGeom prst="ellipse">
          <a:avLst/>
        </a:prstGeom>
        <a:solidFill>
          <a:schemeClr val="lt1">
            <a:hueOff val="0"/>
            <a:satOff val="0"/>
            <a:lumOff val="0"/>
            <a:alphaOff val="0"/>
          </a:schemeClr>
        </a:solidFill>
        <a:ln w="9525" cap="flat" cmpd="sng" algn="ctr">
          <a:solidFill>
            <a:schemeClr val="accent1">
              <a:shade val="50000"/>
              <a:hueOff val="423851"/>
              <a:satOff val="-10574"/>
              <a:lumOff val="37002"/>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 modelId="{EF742F17-1A1A-4AFD-81E8-B30F7CB904BF}">
      <dsp:nvSpPr>
        <dsp:cNvPr id="0" name=""/>
        <dsp:cNvSpPr/>
      </dsp:nvSpPr>
      <dsp:spPr>
        <a:xfrm>
          <a:off x="843938" y="3029075"/>
          <a:ext cx="8886550" cy="459009"/>
        </a:xfrm>
        <a:prstGeom prst="rect">
          <a:avLst/>
        </a:prstGeom>
        <a:gradFill rotWithShape="0">
          <a:gsLst>
            <a:gs pos="0">
              <a:schemeClr val="accent1">
                <a:shade val="50000"/>
                <a:hueOff val="423851"/>
                <a:satOff val="-10574"/>
                <a:lumOff val="37002"/>
                <a:alphaOff val="0"/>
                <a:tint val="100000"/>
                <a:shade val="85000"/>
                <a:satMod val="100000"/>
                <a:lumMod val="100000"/>
              </a:schemeClr>
            </a:gs>
            <a:gs pos="100000">
              <a:schemeClr val="accent1">
                <a:shade val="50000"/>
                <a:hueOff val="423851"/>
                <a:satOff val="-10574"/>
                <a:lumOff val="37002"/>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423851"/>
              <a:satOff val="-10574"/>
              <a:lumOff val="37002"/>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5304" tIns="66040" rIns="66040" bIns="66040" numCol="1" spcCol="1270" anchor="ctr" anchorCtr="0">
          <a:noAutofit/>
        </a:bodyPr>
        <a:lstStyle/>
        <a:p>
          <a:pPr marL="0" lvl="0" indent="0" algn="l" defTabSz="1155700">
            <a:lnSpc>
              <a:spcPct val="90000"/>
            </a:lnSpc>
            <a:spcBef>
              <a:spcPct val="0"/>
            </a:spcBef>
            <a:spcAft>
              <a:spcPct val="35000"/>
            </a:spcAft>
            <a:buNone/>
          </a:pPr>
          <a:r>
            <a:rPr lang="fr-CM" sz="2600" kern="1200" dirty="0"/>
            <a:t>Supprimer un plan tarifaire</a:t>
          </a:r>
        </a:p>
      </dsp:txBody>
      <dsp:txXfrm>
        <a:off x="843938" y="3029075"/>
        <a:ext cx="8886550" cy="459009"/>
      </dsp:txXfrm>
    </dsp:sp>
    <dsp:sp modelId="{982FB3BC-3768-44B6-9D1A-373222B8C2F6}">
      <dsp:nvSpPr>
        <dsp:cNvPr id="0" name=""/>
        <dsp:cNvSpPr/>
      </dsp:nvSpPr>
      <dsp:spPr>
        <a:xfrm>
          <a:off x="523719" y="2932365"/>
          <a:ext cx="640436" cy="652511"/>
        </a:xfrm>
        <a:prstGeom prst="ellipse">
          <a:avLst/>
        </a:prstGeom>
        <a:solidFill>
          <a:schemeClr val="lt1">
            <a:hueOff val="0"/>
            <a:satOff val="0"/>
            <a:lumOff val="0"/>
            <a:alphaOff val="0"/>
          </a:schemeClr>
        </a:solidFill>
        <a:ln w="9525" cap="flat" cmpd="sng" algn="ctr">
          <a:solidFill>
            <a:schemeClr val="accent1">
              <a:shade val="50000"/>
              <a:hueOff val="423851"/>
              <a:satOff val="-10574"/>
              <a:lumOff val="37002"/>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 modelId="{910A612B-1DFE-4E25-88D0-E444ECE356D3}">
      <dsp:nvSpPr>
        <dsp:cNvPr id="0" name=""/>
        <dsp:cNvSpPr/>
      </dsp:nvSpPr>
      <dsp:spPr>
        <a:xfrm>
          <a:off x="432905" y="3886041"/>
          <a:ext cx="9297583" cy="480777"/>
        </a:xfrm>
        <a:prstGeom prst="rect">
          <a:avLst/>
        </a:prstGeom>
        <a:gradFill rotWithShape="0">
          <a:gsLst>
            <a:gs pos="0">
              <a:schemeClr val="accent1">
                <a:shade val="50000"/>
                <a:hueOff val="211926"/>
                <a:satOff val="-5287"/>
                <a:lumOff val="18501"/>
                <a:alphaOff val="0"/>
                <a:tint val="100000"/>
                <a:shade val="85000"/>
                <a:satMod val="100000"/>
                <a:lumMod val="100000"/>
              </a:schemeClr>
            </a:gs>
            <a:gs pos="100000">
              <a:schemeClr val="accent1">
                <a:shade val="50000"/>
                <a:hueOff val="211926"/>
                <a:satOff val="-5287"/>
                <a:lumOff val="18501"/>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shade val="50000"/>
              <a:hueOff val="211926"/>
              <a:satOff val="-5287"/>
              <a:lumOff val="18501"/>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55304" tIns="66040" rIns="66040" bIns="66040" numCol="1" spcCol="1270" anchor="ctr" anchorCtr="0">
          <a:noAutofit/>
        </a:bodyPr>
        <a:lstStyle/>
        <a:p>
          <a:pPr marL="0" lvl="0" indent="0" algn="l" defTabSz="1155700">
            <a:lnSpc>
              <a:spcPct val="90000"/>
            </a:lnSpc>
            <a:spcBef>
              <a:spcPct val="0"/>
            </a:spcBef>
            <a:spcAft>
              <a:spcPct val="35000"/>
            </a:spcAft>
            <a:buNone/>
          </a:pPr>
          <a:r>
            <a:rPr lang="fr-CM" sz="2600" kern="1200" dirty="0"/>
            <a:t>Modifier un plan tarifaire et afficher </a:t>
          </a:r>
          <a:r>
            <a:rPr lang="fr-CM" sz="2600" kern="1200"/>
            <a:t>les plans tarifaires</a:t>
          </a:r>
          <a:endParaRPr lang="fr-CM" sz="2600" kern="1200" dirty="0"/>
        </a:p>
      </dsp:txBody>
      <dsp:txXfrm>
        <a:off x="432905" y="3886041"/>
        <a:ext cx="9297583" cy="480777"/>
      </dsp:txXfrm>
    </dsp:sp>
    <dsp:sp modelId="{2F21EFAF-9782-4287-BA5B-FB02FCCFF5C8}">
      <dsp:nvSpPr>
        <dsp:cNvPr id="0" name=""/>
        <dsp:cNvSpPr/>
      </dsp:nvSpPr>
      <dsp:spPr>
        <a:xfrm>
          <a:off x="112773" y="3800088"/>
          <a:ext cx="640264" cy="652747"/>
        </a:xfrm>
        <a:prstGeom prst="ellipse">
          <a:avLst/>
        </a:prstGeom>
        <a:solidFill>
          <a:schemeClr val="lt1">
            <a:hueOff val="0"/>
            <a:satOff val="0"/>
            <a:lumOff val="0"/>
            <a:alphaOff val="0"/>
          </a:schemeClr>
        </a:solidFill>
        <a:ln w="9525" cap="flat" cmpd="sng" algn="ctr">
          <a:solidFill>
            <a:schemeClr val="accent1">
              <a:shade val="50000"/>
              <a:hueOff val="211926"/>
              <a:satOff val="-5287"/>
              <a:lumOff val="18501"/>
              <a:alphaOff val="0"/>
            </a:schemeClr>
          </a:solidFill>
          <a:prstDash val="solid"/>
        </a:ln>
        <a:effectLst>
          <a:outerShdw blurRad="50800" dist="12700" dir="5400000" algn="ctr" rotWithShape="0">
            <a:srgbClr val="000000">
              <a:alpha val="50000"/>
            </a:srgbClr>
          </a:outerShdw>
        </a:effectLst>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57FDB26-16AF-4C82-AF7A-92449513F3F4}" type="datetime1">
              <a:rPr lang="fr-FR" smtClean="0"/>
              <a:t>24/01/2026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B53ADFC-ABB8-401A-BB24-33FDAFEDCEBD}" type="slidenum">
              <a:rPr lang="fr-FR" smtClean="0"/>
              <a:t>‹N°›</a:t>
            </a:fld>
            <a:endParaRPr lang="fr-FR"/>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360E9541-3375-4528-AC9C-1D7FD00C3017}" type="datetime1">
              <a:rPr lang="fr-FR" noProof="0" smtClean="0"/>
              <a:t>24/01/2026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725628-3A68-42F4-BA86-981817953149}" type="slidenum">
              <a:rPr lang="fr-FR" noProof="0" smtClean="0"/>
              <a:t>‹N°›</a:t>
            </a:fld>
            <a:endParaRPr lang="fr-FR" noProof="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4B725628-3A68-42F4-BA86-981817953149}" type="slidenum">
              <a:rPr lang="fr-FR" smtClean="0"/>
              <a:t>1</a:t>
            </a:fld>
            <a:endParaRPr lang="fr-FR"/>
          </a:p>
        </p:txBody>
      </p:sp>
    </p:spTree>
    <p:extLst>
      <p:ext uri="{BB962C8B-B14F-4D97-AF65-F5344CB8AC3E}">
        <p14:creationId xmlns:p14="http://schemas.microsoft.com/office/powerpoint/2010/main" val="3859257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e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ctrTitle"/>
          </p:nvPr>
        </p:nvSpPr>
        <p:spPr>
          <a:xfrm>
            <a:off x="457200" y="4960137"/>
            <a:ext cx="7772400" cy="1463040"/>
          </a:xfrm>
        </p:spPr>
        <p:txBody>
          <a:bodyPr rtlCol="0" anchor="ctr">
            <a:normAutofit/>
          </a:bodyPr>
          <a:lstStyle>
            <a:lvl1pPr algn="r">
              <a:defRPr sz="5000" spc="200" baseline="0"/>
            </a:lvl1pPr>
          </a:lstStyle>
          <a:p>
            <a:pPr rtl="0"/>
            <a:r>
              <a:rPr lang="fr-FR" noProof="0"/>
              <a:t>Modifiez le style du titre</a:t>
            </a:r>
          </a:p>
        </p:txBody>
      </p:sp>
      <p:sp>
        <p:nvSpPr>
          <p:cNvPr id="3" name="Sous-titre 2"/>
          <p:cNvSpPr>
            <a:spLocks noGrp="1"/>
          </p:cNvSpPr>
          <p:nvPr>
            <p:ph type="subTitle" idx="1" hasCustomPrompt="1"/>
          </p:nvPr>
        </p:nvSpPr>
        <p:spPr>
          <a:xfrm>
            <a:off x="8610600" y="4960137"/>
            <a:ext cx="3200400" cy="1463040"/>
          </a:xfrm>
        </p:spPr>
        <p:txBody>
          <a:bodyPr lIns="91440" rIns="91440" rtlCol="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Cliquez pour modifier le style des sous-titres du masque</a:t>
            </a:r>
          </a:p>
        </p:txBody>
      </p:sp>
      <p:sp>
        <p:nvSpPr>
          <p:cNvPr id="4" name="Espace réservé de la date 3"/>
          <p:cNvSpPr>
            <a:spLocks noGrp="1"/>
          </p:cNvSpPr>
          <p:nvPr>
            <p:ph type="dt" sz="half" idx="10"/>
          </p:nvPr>
        </p:nvSpPr>
        <p:spPr/>
        <p:txBody>
          <a:bodyPr rtlCol="0"/>
          <a:lstStyle>
            <a:lvl1pPr algn="l">
              <a:defRPr/>
            </a:lvl1pPr>
          </a:lstStyle>
          <a:p>
            <a:pPr rtl="0"/>
            <a:fld id="{E27949C9-1C26-45BB-BA53-FCDDA512553D}" type="datetime1">
              <a:rPr lang="fr-FR" noProof="0" smtClean="0"/>
              <a:t>24/01/2026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cxnSp>
        <p:nvCxnSpPr>
          <p:cNvPr id="8" name="Connecteur droit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idx="1" hasCustomPrompt="1"/>
          </p:nvPr>
        </p:nvSpPr>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2B70CDC4-B118-436F-8999-4E53124174C8}" type="datetime1">
              <a:rPr lang="fr-FR" noProof="0" smtClean="0"/>
              <a:t>24/01/2026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e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title"/>
          </p:nvPr>
        </p:nvSpPr>
        <p:spPr>
          <a:xfrm>
            <a:off x="457200" y="4960137"/>
            <a:ext cx="7772400" cy="1463040"/>
          </a:xfrm>
        </p:spPr>
        <p:txBody>
          <a:bodyPr rtlCol="0" anchor="ctr">
            <a:normAutofit/>
          </a:bodyPr>
          <a:lstStyle>
            <a:lvl1pPr algn="r">
              <a:defRPr sz="5000" b="0" spc="200" baseline="0"/>
            </a:lvl1pPr>
          </a:lstStyle>
          <a:p>
            <a:pPr rtl="0"/>
            <a:r>
              <a:rPr lang="fr-FR" noProof="0"/>
              <a:t>Modifiez le style du titre</a:t>
            </a:r>
          </a:p>
        </p:txBody>
      </p:sp>
      <p:sp>
        <p:nvSpPr>
          <p:cNvPr id="3" name="Espace réservé du texte 2"/>
          <p:cNvSpPr>
            <a:spLocks noGrp="1"/>
          </p:cNvSpPr>
          <p:nvPr>
            <p:ph type="body" idx="1" hasCustomPrompt="1"/>
          </p:nvPr>
        </p:nvSpPr>
        <p:spPr>
          <a:xfrm>
            <a:off x="8610600" y="4960137"/>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p>
            <a:pPr rtl="0"/>
            <a:fld id="{0CB3B74C-3552-4EC5-970E-EA08B17DE6C3}" type="datetime1">
              <a:rPr lang="fr-FR" noProof="0" smtClean="0"/>
              <a:t>24/01/2026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cxnSp>
        <p:nvCxnSpPr>
          <p:cNvPr id="8" name="Connecteur droit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9720072" cy="1499616"/>
          </a:xfrm>
        </p:spPr>
        <p:txBody>
          <a:bodyPr rtlCol="0"/>
          <a:lstStyle/>
          <a:p>
            <a:pPr rtl="0"/>
            <a:r>
              <a:rPr lang="fr-FR" noProof="0"/>
              <a:t>Modifiez le style du titre</a:t>
            </a:r>
          </a:p>
        </p:txBody>
      </p:sp>
      <p:sp>
        <p:nvSpPr>
          <p:cNvPr id="3" name="Espace réservé du contenu 2"/>
          <p:cNvSpPr>
            <a:spLocks noGrp="1"/>
          </p:cNvSpPr>
          <p:nvPr>
            <p:ph sz="half" idx="1" hasCustomPrompt="1"/>
          </p:nvPr>
        </p:nvSpPr>
        <p:spPr>
          <a:xfrm>
            <a:off x="1024127" y="2286000"/>
            <a:ext cx="4754880" cy="402336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p:cNvSpPr>
            <a:spLocks noGrp="1"/>
          </p:cNvSpPr>
          <p:nvPr>
            <p:ph sz="half" idx="2" hasCustomPrompt="1"/>
          </p:nvPr>
        </p:nvSpPr>
        <p:spPr>
          <a:xfrm>
            <a:off x="5989320" y="2286000"/>
            <a:ext cx="4754880" cy="402336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e la date 4"/>
          <p:cNvSpPr>
            <a:spLocks noGrp="1"/>
          </p:cNvSpPr>
          <p:nvPr>
            <p:ph type="dt" sz="half" idx="10"/>
          </p:nvPr>
        </p:nvSpPr>
        <p:spPr/>
        <p:txBody>
          <a:bodyPr rtlCol="0"/>
          <a:lstStyle/>
          <a:p>
            <a:pPr rtl="0"/>
            <a:fld id="{BA86671B-8518-416E-9A93-110C3FC765B0}" type="datetime1">
              <a:rPr lang="fr-FR" noProof="0" smtClean="0"/>
              <a:t>24/01/2026</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re 9"/>
          <p:cNvSpPr>
            <a:spLocks noGrp="1"/>
          </p:cNvSpPr>
          <p:nvPr>
            <p:ph type="title"/>
          </p:nvPr>
        </p:nvSpPr>
        <p:spPr/>
        <p:txBody>
          <a:bodyPr rtlCol="0"/>
          <a:lstStyle/>
          <a:p>
            <a:pPr rtl="0"/>
            <a:r>
              <a:rPr lang="fr-FR" noProof="0"/>
              <a:t>Modifiez le style du titre</a:t>
            </a:r>
          </a:p>
        </p:txBody>
      </p:sp>
      <p:sp>
        <p:nvSpPr>
          <p:cNvPr id="3" name="Espace réservé du texte 2"/>
          <p:cNvSpPr>
            <a:spLocks noGrp="1"/>
          </p:cNvSpPr>
          <p:nvPr>
            <p:ph type="body" idx="1" hasCustomPrompt="1"/>
          </p:nvPr>
        </p:nvSpPr>
        <p:spPr>
          <a:xfrm>
            <a:off x="1024128" y="2179636"/>
            <a:ext cx="4754880" cy="822960"/>
          </a:xfrm>
        </p:spPr>
        <p:txBody>
          <a:bodyPr lIns="137160" rIns="137160" rtlCol="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3"/>
          <p:cNvSpPr>
            <a:spLocks noGrp="1"/>
          </p:cNvSpPr>
          <p:nvPr>
            <p:ph sz="half" idx="2" hasCustomPrompt="1"/>
          </p:nvPr>
        </p:nvSpPr>
        <p:spPr>
          <a:xfrm>
            <a:off x="1024128" y="2967788"/>
            <a:ext cx="4754880" cy="3341572"/>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p:cNvSpPr>
            <a:spLocks noGrp="1"/>
          </p:cNvSpPr>
          <p:nvPr>
            <p:ph type="body" sz="quarter" idx="3" hasCustomPrompt="1"/>
          </p:nvPr>
        </p:nvSpPr>
        <p:spPr>
          <a:xfrm>
            <a:off x="5990888" y="2179636"/>
            <a:ext cx="4754880" cy="822960"/>
          </a:xfrm>
        </p:spPr>
        <p:txBody>
          <a:bodyPr lIns="137160" rIns="137160" rtlCol="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dirty="0"/>
              <a:t>Modifiez les styles du texte du masque</a:t>
            </a:r>
          </a:p>
        </p:txBody>
      </p:sp>
      <p:sp>
        <p:nvSpPr>
          <p:cNvPr id="6" name="Espace réservé du contenu 5"/>
          <p:cNvSpPr>
            <a:spLocks noGrp="1"/>
          </p:cNvSpPr>
          <p:nvPr>
            <p:ph sz="quarter" idx="4" hasCustomPrompt="1"/>
          </p:nvPr>
        </p:nvSpPr>
        <p:spPr>
          <a:xfrm>
            <a:off x="5990888" y="2967788"/>
            <a:ext cx="4754880" cy="3341572"/>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p:cNvSpPr>
            <a:spLocks noGrp="1"/>
          </p:cNvSpPr>
          <p:nvPr>
            <p:ph type="dt" sz="half" idx="10"/>
          </p:nvPr>
        </p:nvSpPr>
        <p:spPr/>
        <p:txBody>
          <a:bodyPr rtlCol="0"/>
          <a:lstStyle/>
          <a:p>
            <a:pPr rtl="0"/>
            <a:fld id="{B95CA171-7817-4EB8-BD06-8DC08B6DD669}" type="datetime1">
              <a:rPr lang="fr-FR" noProof="0" smtClean="0"/>
              <a:t>24/01/2026</a:t>
            </a:fld>
            <a:endParaRPr lang="fr-FR" noProof="0"/>
          </a:p>
        </p:txBody>
      </p:sp>
      <p:sp>
        <p:nvSpPr>
          <p:cNvPr id="8" name="Espace réservé du pied de page 7"/>
          <p:cNvSpPr>
            <a:spLocks noGrp="1"/>
          </p:cNvSpPr>
          <p:nvPr>
            <p:ph type="ftr" sz="quarter" idx="11"/>
          </p:nvPr>
        </p:nvSpPr>
        <p:spPr/>
        <p:txBody>
          <a:bodyPr rtlCol="0"/>
          <a:lstStyle/>
          <a:p>
            <a:pPr rtl="0"/>
            <a:endParaRPr lang="fr-FR" noProof="0"/>
          </a:p>
        </p:txBody>
      </p:sp>
      <p:sp>
        <p:nvSpPr>
          <p:cNvPr id="9" name="Espace réservé du numéro de diapositive 8"/>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e la date 2"/>
          <p:cNvSpPr>
            <a:spLocks noGrp="1"/>
          </p:cNvSpPr>
          <p:nvPr>
            <p:ph type="dt" sz="half" idx="10"/>
          </p:nvPr>
        </p:nvSpPr>
        <p:spPr/>
        <p:txBody>
          <a:bodyPr rtlCol="0"/>
          <a:lstStyle/>
          <a:p>
            <a:pPr rtl="0"/>
            <a:fld id="{A8CB6A67-71AB-4430-8E9A-3C4E54AB6270}" type="datetime1">
              <a:rPr lang="fr-FR" noProof="0" smtClean="0"/>
              <a:t>24/01/2026</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p>
            <a:pPr rtl="0"/>
            <a:fld id="{3278E809-7279-41D4-8D12-46601669AEF8}" type="datetime1">
              <a:rPr lang="fr-FR" noProof="0" smtClean="0"/>
              <a:t>24/01/2026</a:t>
            </a:fld>
            <a:endParaRPr lang="fr-FR" noProof="0"/>
          </a:p>
        </p:txBody>
      </p:sp>
      <p:sp>
        <p:nvSpPr>
          <p:cNvPr id="3" name="Espace réservé du pied de page 2"/>
          <p:cNvSpPr>
            <a:spLocks noGrp="1"/>
          </p:cNvSpPr>
          <p:nvPr>
            <p:ph type="ftr" sz="quarter" idx="11"/>
          </p:nvPr>
        </p:nvSpPr>
        <p:spPr/>
        <p:txBody>
          <a:bodyPr rtlCol="0"/>
          <a:lstStyle/>
          <a:p>
            <a:pPr rtl="0"/>
            <a:endParaRPr lang="fr-FR" noProof="0"/>
          </a:p>
        </p:txBody>
      </p:sp>
      <p:sp>
        <p:nvSpPr>
          <p:cNvPr id="4" name="Espace réservé du numéro de diapositive 3"/>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re 7"/>
          <p:cNvSpPr>
            <a:spLocks noGrp="1"/>
          </p:cNvSpPr>
          <p:nvPr>
            <p:ph type="title" hasCustomPrompt="1"/>
          </p:nvPr>
        </p:nvSpPr>
        <p:spPr>
          <a:xfrm>
            <a:off x="1024128" y="471509"/>
            <a:ext cx="4389120" cy="1737360"/>
          </a:xfrm>
        </p:spPr>
        <p:txBody>
          <a:bodyPr rtlCol="0">
            <a:noAutofit/>
          </a:bodyPr>
          <a:lstStyle>
            <a:lvl1pPr>
              <a:lnSpc>
                <a:spcPct val="80000"/>
              </a:lnSpc>
              <a:defRPr sz="4000"/>
            </a:lvl1pPr>
          </a:lstStyle>
          <a:p>
            <a:pPr rtl="0"/>
            <a:r>
              <a:rPr lang="fr-FR" noProof="0"/>
              <a:t>Modifiez le style du titre du masque</a:t>
            </a:r>
          </a:p>
        </p:txBody>
      </p:sp>
      <p:sp>
        <p:nvSpPr>
          <p:cNvPr id="3" name="Espace réservé du contenu 2"/>
          <p:cNvSpPr>
            <a:spLocks noGrp="1"/>
          </p:cNvSpPr>
          <p:nvPr>
            <p:ph idx="1" hasCustomPrompt="1"/>
          </p:nvPr>
        </p:nvSpPr>
        <p:spPr>
          <a:xfrm>
            <a:off x="5715000" y="822960"/>
            <a:ext cx="5678424" cy="5184648"/>
          </a:xfrm>
        </p:spPr>
        <p:txBody>
          <a:bodyPr rtlCol="0"/>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p:cNvSpPr>
            <a:spLocks noGrp="1"/>
          </p:cNvSpPr>
          <p:nvPr>
            <p:ph type="body" sz="half" idx="2" hasCustomPrompt="1"/>
          </p:nvPr>
        </p:nvSpPr>
        <p:spPr>
          <a:xfrm>
            <a:off x="1024128" y="2257506"/>
            <a:ext cx="4389120" cy="3762294"/>
          </a:xfrm>
        </p:spPr>
        <p:txBody>
          <a:bodyPr lIns="91440" rIns="91440" rtlCol="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 du masque</a:t>
            </a:r>
          </a:p>
        </p:txBody>
      </p:sp>
      <p:sp>
        <p:nvSpPr>
          <p:cNvPr id="5" name="Espace réservé de la date 4"/>
          <p:cNvSpPr>
            <a:spLocks noGrp="1"/>
          </p:cNvSpPr>
          <p:nvPr>
            <p:ph type="dt" sz="half" idx="10"/>
          </p:nvPr>
        </p:nvSpPr>
        <p:spPr/>
        <p:txBody>
          <a:bodyPr rtlCol="0"/>
          <a:lstStyle/>
          <a:p>
            <a:pPr rtl="0"/>
            <a:fld id="{7EE15B8F-B91C-47AC-B98D-C114892A6229}" type="datetime1">
              <a:rPr lang="fr-FR" noProof="0" smtClean="0"/>
              <a:t>24/01/2026</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4960138"/>
            <a:ext cx="7772400" cy="1463040"/>
          </a:xfrm>
        </p:spPr>
        <p:txBody>
          <a:bodyPr rtlCol="0" anchor="ctr">
            <a:normAutofit/>
          </a:bodyPr>
          <a:lstStyle>
            <a:lvl1pPr algn="r">
              <a:defRPr sz="5000" spc="200" baseline="0"/>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0" y="-1"/>
            <a:ext cx="12188952" cy="4572000"/>
          </a:xfrm>
          <a:solidFill>
            <a:schemeClr val="accent1">
              <a:lumMod val="60000"/>
              <a:lumOff val="40000"/>
            </a:schemeClr>
          </a:solidFill>
        </p:spPr>
        <p:txBody>
          <a:bodyPr lIns="457200" tIns="365760" rIns="45720" bIns="4572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4" name="Espace réservé du texte 3"/>
          <p:cNvSpPr>
            <a:spLocks noGrp="1"/>
          </p:cNvSpPr>
          <p:nvPr>
            <p:ph type="body" sz="half" idx="2" hasCustomPrompt="1"/>
          </p:nvPr>
        </p:nvSpPr>
        <p:spPr>
          <a:xfrm>
            <a:off x="8610600" y="4960138"/>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dirty="0"/>
              <a:t>Modifiez les styles du texte du masque</a:t>
            </a:r>
          </a:p>
        </p:txBody>
      </p:sp>
      <p:sp>
        <p:nvSpPr>
          <p:cNvPr id="5" name="Espace réservé de la date 4"/>
          <p:cNvSpPr>
            <a:spLocks noGrp="1"/>
          </p:cNvSpPr>
          <p:nvPr>
            <p:ph type="dt" sz="half" idx="10"/>
          </p:nvPr>
        </p:nvSpPr>
        <p:spPr/>
        <p:txBody>
          <a:bodyPr rtlCol="0"/>
          <a:lstStyle/>
          <a:p>
            <a:pPr rtl="0"/>
            <a:fld id="{92769C86-3347-4673-9EED-DCA59A1E5DED}" type="datetime1">
              <a:rPr lang="fr-FR" noProof="0" smtClean="0"/>
              <a:t>24/01/2026</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867E5644-1E61-4311-A31E-84CB9C7AA8A9}" type="slidenum">
              <a:rPr lang="fr-FR" noProof="0" smtClean="0"/>
              <a:t>‹N°›</a:t>
            </a:fld>
            <a:endParaRPr lang="fr-FR" noProof="0"/>
          </a:p>
        </p:txBody>
      </p:sp>
      <p:cxnSp>
        <p:nvCxnSpPr>
          <p:cNvPr id="8" name="Connecteur droit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texte vertical 2"/>
          <p:cNvSpPr>
            <a:spLocks noGrp="1"/>
          </p:cNvSpPr>
          <p:nvPr>
            <p:ph type="body" orient="vert" idx="1" hasCustomPrompt="1"/>
          </p:nvPr>
        </p:nvSpPr>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721F1C99-0FCE-4E24-B45E-A6B8B87EE97A}" type="datetime1">
              <a:rPr lang="fr-FR" noProof="0" smtClean="0"/>
              <a:t>24/01/2026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hasCustomPrompt="1"/>
          </p:nvPr>
        </p:nvSpPr>
        <p:spPr>
          <a:xfrm>
            <a:off x="8724901" y="762000"/>
            <a:ext cx="2628900" cy="5410200"/>
          </a:xfrm>
        </p:spPr>
        <p:txBody>
          <a:bodyPr vert="eaVert" lIns="45720" tIns="91440" rIns="45720" bIns="91440" rtlCol="0"/>
          <a:lstStyle/>
          <a:p>
            <a:pPr rtl="0"/>
            <a:r>
              <a:rPr lang="fr-FR" noProof="0"/>
              <a:t>Cliquez pour modifier le style du titre</a:t>
            </a:r>
          </a:p>
        </p:txBody>
      </p:sp>
      <p:sp>
        <p:nvSpPr>
          <p:cNvPr id="3" name="Espace réservé du texte vertical 2"/>
          <p:cNvSpPr>
            <a:spLocks noGrp="1"/>
          </p:cNvSpPr>
          <p:nvPr>
            <p:ph type="body" orient="vert" idx="1" hasCustomPrompt="1"/>
          </p:nvPr>
        </p:nvSpPr>
        <p:spPr>
          <a:xfrm>
            <a:off x="990601" y="762000"/>
            <a:ext cx="7581900" cy="5410200"/>
          </a:xfrm>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132C3B24-D805-4A76-8E65-C9738296B930}" type="datetime1">
              <a:rPr lang="fr-FR" noProof="0" smtClean="0"/>
              <a:t>24/01/2026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cxnSp>
        <p:nvCxnSpPr>
          <p:cNvPr id="7" name="Connecteur droit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pPr rtl="0"/>
            <a:r>
              <a:rPr lang="fr-FR" noProof="0"/>
              <a:t>Modifiez le style du titre</a:t>
            </a:r>
          </a:p>
        </p:txBody>
      </p:sp>
      <p:sp>
        <p:nvSpPr>
          <p:cNvPr id="3" name="Espace réservé du texte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87726DE0-7F70-4976-999D-381380B45882}" type="datetime1">
              <a:rPr lang="fr-FR" noProof="0" smtClean="0"/>
              <a:t>24/01/2026</a:t>
            </a:fld>
            <a:endParaRPr lang="fr-FR" noProof="0"/>
          </a:p>
        </p:txBody>
      </p:sp>
      <p:sp>
        <p:nvSpPr>
          <p:cNvPr id="5" name="Espace réservé du pied de page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rtl="0"/>
            <a:endParaRPr lang="fr-FR" noProof="0"/>
          </a:p>
        </p:txBody>
      </p:sp>
      <p:sp>
        <p:nvSpPr>
          <p:cNvPr id="6" name="Espace réservé du numéro de diapositive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4FAB73BC-B049-4115-A692-8D63A059BFB8}" type="slidenum">
              <a:rPr lang="fr-FR" noProof="0" smtClean="0"/>
              <a:pPr rtl="0"/>
              <a:t>‹N°›</a:t>
            </a:fld>
            <a:endParaRPr lang="fr-FR" noProof="0"/>
          </a:p>
        </p:txBody>
      </p:sp>
      <p:cxnSp>
        <p:nvCxnSpPr>
          <p:cNvPr id="7" name="Connecteur droit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5" name="Imag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fr-FR"/>
          </a:p>
        </p:txBody>
      </p:sp>
      <p:sp>
        <p:nvSpPr>
          <p:cNvPr id="2" name="Titr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rtlCol="0" anchor="b">
            <a:normAutofit/>
          </a:bodyPr>
          <a:lstStyle/>
          <a:p>
            <a:pPr algn="l" rtl="0"/>
            <a:r>
              <a:rPr lang="fr-FR" dirty="0">
                <a:solidFill>
                  <a:srgbClr val="FFFFFF"/>
                </a:solidFill>
              </a:rPr>
              <a:t>Cahier d’analyse du projet</a:t>
            </a:r>
          </a:p>
        </p:txBody>
      </p:sp>
      <p:sp>
        <p:nvSpPr>
          <p:cNvPr id="3" name="Sous-titr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rtlCol="0" anchor="t">
            <a:normAutofit/>
          </a:bodyPr>
          <a:lstStyle/>
          <a:p>
            <a:pPr rtl="0"/>
            <a:r>
              <a:rPr lang="fr-FR" dirty="0">
                <a:solidFill>
                  <a:srgbClr val="FFFFFF"/>
                </a:solidFill>
              </a:rPr>
              <a:t>Projet : Monitoring et Télémétrie avec Ceilometer et Gnocchi</a:t>
            </a:r>
          </a:p>
        </p:txBody>
      </p:sp>
      <p:cxnSp>
        <p:nvCxnSpPr>
          <p:cNvPr id="23" name="Connecteur droit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C768B4-6435-43F1-8F30-4E3257184CEC}"/>
              </a:ext>
            </a:extLst>
          </p:cNvPr>
          <p:cNvSpPr>
            <a:spLocks noGrp="1"/>
          </p:cNvSpPr>
          <p:nvPr>
            <p:ph type="title"/>
          </p:nvPr>
        </p:nvSpPr>
        <p:spPr/>
        <p:txBody>
          <a:bodyPr/>
          <a:lstStyle/>
          <a:p>
            <a:r>
              <a:rPr lang="fr-CM" dirty="0"/>
              <a:t>PLAN</a:t>
            </a:r>
          </a:p>
        </p:txBody>
      </p:sp>
      <p:graphicFrame>
        <p:nvGraphicFramePr>
          <p:cNvPr id="4" name="Espace réservé du contenu 3">
            <a:extLst>
              <a:ext uri="{FF2B5EF4-FFF2-40B4-BE49-F238E27FC236}">
                <a16:creationId xmlns:a16="http://schemas.microsoft.com/office/drawing/2014/main" id="{099B6799-85EA-4576-BB4F-5C2BD39E4576}"/>
              </a:ext>
            </a:extLst>
          </p:cNvPr>
          <p:cNvGraphicFramePr>
            <a:graphicFrameLocks noGrp="1"/>
          </p:cNvGraphicFramePr>
          <p:nvPr>
            <p:ph idx="1"/>
            <p:extLst>
              <p:ext uri="{D42A27DB-BD31-4B8C-83A1-F6EECF244321}">
                <p14:modId xmlns:p14="http://schemas.microsoft.com/office/powerpoint/2010/main" val="4016477526"/>
              </p:ext>
            </p:extLst>
          </p:nvPr>
        </p:nvGraphicFramePr>
        <p:xfrm>
          <a:off x="834190" y="2084832"/>
          <a:ext cx="10523620" cy="43875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0204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E98F15-E5F8-4329-B307-6ED3F5E82889}"/>
              </a:ext>
            </a:extLst>
          </p:cNvPr>
          <p:cNvSpPr>
            <a:spLocks noGrp="1"/>
          </p:cNvSpPr>
          <p:nvPr>
            <p:ph type="title"/>
          </p:nvPr>
        </p:nvSpPr>
        <p:spPr/>
        <p:txBody>
          <a:bodyPr>
            <a:normAutofit/>
          </a:bodyPr>
          <a:lstStyle/>
          <a:p>
            <a:r>
              <a:rPr lang="fr-CM" sz="4000" dirty="0">
                <a:latin typeface="Times New Roman" panose="02020603050405020304" pitchFamily="18" charset="0"/>
                <a:cs typeface="Times New Roman" panose="02020603050405020304" pitchFamily="18" charset="0"/>
              </a:rPr>
              <a:t>Introduction</a:t>
            </a:r>
          </a:p>
        </p:txBody>
      </p:sp>
      <p:sp>
        <p:nvSpPr>
          <p:cNvPr id="3" name="Espace réservé du contenu 2">
            <a:extLst>
              <a:ext uri="{FF2B5EF4-FFF2-40B4-BE49-F238E27FC236}">
                <a16:creationId xmlns:a16="http://schemas.microsoft.com/office/drawing/2014/main" id="{15CEF9AE-AA88-4B8D-A51C-46C5177B1573}"/>
              </a:ext>
            </a:extLst>
          </p:cNvPr>
          <p:cNvSpPr>
            <a:spLocks noGrp="1"/>
          </p:cNvSpPr>
          <p:nvPr>
            <p:ph idx="1"/>
          </p:nvPr>
        </p:nvSpPr>
        <p:spPr>
          <a:xfrm>
            <a:off x="907587" y="1739153"/>
            <a:ext cx="9720073" cy="3899647"/>
          </a:xfrm>
        </p:spPr>
        <p:txBody>
          <a:bodyPr>
            <a:noAutofit/>
          </a:bodyPr>
          <a:lstStyle/>
          <a:p>
            <a:pPr>
              <a:lnSpc>
                <a:spcPct val="150000"/>
              </a:lnSpc>
            </a:pPr>
            <a:r>
              <a:rPr lang="fr-FR" sz="1800" dirty="0">
                <a:latin typeface="Times New Roman" panose="02020603050405020304" pitchFamily="18" charset="0"/>
                <a:cs typeface="Times New Roman" panose="02020603050405020304" pitchFamily="18" charset="0"/>
              </a:rPr>
              <a:t>Dans le contexte actuel du cloud computing, la gestion efficace des ressources et la surveillance de leur utilisation constituent des enjeux majeurs pour les administrateurs de systèmes. Les environnements OpenStack, de par leur nature distribuée et dynamique, nécessitent un mécanisme fiable de collecte, stockage et analyse des métriques afin d’assurer un suivi précis des performances et des coûts d’exploitation.</a:t>
            </a:r>
            <a:br>
              <a:rPr lang="fr-FR" sz="1800" dirty="0">
                <a:latin typeface="Times New Roman" panose="02020603050405020304" pitchFamily="18" charset="0"/>
                <a:cs typeface="Times New Roman" panose="02020603050405020304" pitchFamily="18" charset="0"/>
              </a:rPr>
            </a:br>
            <a:r>
              <a:rPr lang="fr-FR" sz="1800" dirty="0">
                <a:latin typeface="Times New Roman" panose="02020603050405020304" pitchFamily="18" charset="0"/>
                <a:cs typeface="Times New Roman" panose="02020603050405020304" pitchFamily="18" charset="0"/>
              </a:rPr>
              <a:t>Le présent projet vise à concevoir et mettre en œuvre un système complet de monitoring et de télémétrie basé sur Ceilometer et Gnocchi, deux composants essentiels de l’écosystème OpenStack. Ce système permettra d’observer en temps réel l’état des ressources, d’évaluer la consommation et de détecter les anomalies de fonctionnement.</a:t>
            </a:r>
          </a:p>
        </p:txBody>
      </p:sp>
    </p:spTree>
    <p:extLst>
      <p:ext uri="{BB962C8B-B14F-4D97-AF65-F5344CB8AC3E}">
        <p14:creationId xmlns:p14="http://schemas.microsoft.com/office/powerpoint/2010/main" val="252124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1A8497-0187-44FC-A9CC-CD2F003E5ECB}"/>
              </a:ext>
            </a:extLst>
          </p:cNvPr>
          <p:cNvSpPr>
            <a:spLocks noGrp="1"/>
          </p:cNvSpPr>
          <p:nvPr>
            <p:ph type="title"/>
          </p:nvPr>
        </p:nvSpPr>
        <p:spPr>
          <a:xfrm>
            <a:off x="1024128" y="567286"/>
            <a:ext cx="9720072" cy="1499616"/>
          </a:xfrm>
        </p:spPr>
        <p:txBody>
          <a:bodyPr/>
          <a:lstStyle/>
          <a:p>
            <a:r>
              <a:rPr lang="fr-CM" dirty="0"/>
              <a:t>Objectifs du projet</a:t>
            </a:r>
          </a:p>
        </p:txBody>
      </p:sp>
      <p:sp>
        <p:nvSpPr>
          <p:cNvPr id="3" name="Espace réservé du contenu 2">
            <a:extLst>
              <a:ext uri="{FF2B5EF4-FFF2-40B4-BE49-F238E27FC236}">
                <a16:creationId xmlns:a16="http://schemas.microsoft.com/office/drawing/2014/main" id="{2A1421F4-8596-490B-9233-357930C59F28}"/>
              </a:ext>
            </a:extLst>
          </p:cNvPr>
          <p:cNvSpPr>
            <a:spLocks noGrp="1"/>
          </p:cNvSpPr>
          <p:nvPr>
            <p:ph idx="1"/>
          </p:nvPr>
        </p:nvSpPr>
        <p:spPr>
          <a:xfrm>
            <a:off x="836756" y="1735916"/>
            <a:ext cx="10413949" cy="4889002"/>
          </a:xfrm>
        </p:spPr>
        <p:txBody>
          <a:bodyPr>
            <a:noAutofit/>
          </a:bodyPr>
          <a:lstStyle/>
          <a:p>
            <a:pPr>
              <a:lnSpc>
                <a:spcPct val="160000"/>
              </a:lnSpc>
            </a:pPr>
            <a:r>
              <a:rPr lang="fr-FR" sz="1800" dirty="0">
                <a:latin typeface="Times New Roman" panose="02020603050405020304" pitchFamily="18" charset="0"/>
                <a:cs typeface="Times New Roman" panose="02020603050405020304" pitchFamily="18" charset="0"/>
              </a:rPr>
              <a:t>L’objectif principal du projet est de déployer une solution intégrée de supervision et de facturation des ressources OpenStack. Elle devra être capable de :</a:t>
            </a:r>
          </a:p>
          <a:p>
            <a:pPr>
              <a:lnSpc>
                <a:spcPct val="160000"/>
              </a:lnSpc>
              <a:buFont typeface="Wingdings" panose="05000000000000000000" pitchFamily="2" charset="2"/>
              <a:buChar char="q"/>
            </a:pPr>
            <a:r>
              <a:rPr lang="fr-FR" sz="1800" dirty="0">
                <a:latin typeface="Times New Roman" panose="02020603050405020304" pitchFamily="18" charset="0"/>
                <a:cs typeface="Times New Roman" panose="02020603050405020304" pitchFamily="18" charset="0"/>
              </a:rPr>
              <a:t> Collecter automatiquement les métriques liées aux ressources cloud (CPU, mémoire, stockage, trafic réseau, etc.) ;</a:t>
            </a:r>
          </a:p>
          <a:p>
            <a:pPr>
              <a:lnSpc>
                <a:spcPct val="160000"/>
              </a:lnSpc>
              <a:buFont typeface="Wingdings" panose="05000000000000000000" pitchFamily="2" charset="2"/>
              <a:buChar char="q"/>
            </a:pPr>
            <a:r>
              <a:rPr lang="fr-FR" sz="1800" dirty="0">
                <a:latin typeface="Times New Roman" panose="02020603050405020304" pitchFamily="18" charset="0"/>
                <a:cs typeface="Times New Roman" panose="02020603050405020304" pitchFamily="18" charset="0"/>
              </a:rPr>
              <a:t> Stocker ces données sous forme de séries temporelles via Gnocchi pour permettre des analyses historiques ;</a:t>
            </a:r>
          </a:p>
          <a:p>
            <a:pPr>
              <a:lnSpc>
                <a:spcPct val="160000"/>
              </a:lnSpc>
              <a:buFont typeface="Wingdings" panose="05000000000000000000" pitchFamily="2" charset="2"/>
              <a:buChar char="q"/>
            </a:pPr>
            <a:r>
              <a:rPr lang="fr-FR" sz="1800" dirty="0">
                <a:latin typeface="Times New Roman" panose="02020603050405020304" pitchFamily="18" charset="0"/>
                <a:cs typeface="Times New Roman" panose="02020603050405020304" pitchFamily="18" charset="0"/>
              </a:rPr>
              <a:t> Générer des indicateurs de performance et des alertes en cas d’anomalies ;</a:t>
            </a:r>
          </a:p>
          <a:p>
            <a:pPr>
              <a:lnSpc>
                <a:spcPct val="160000"/>
              </a:lnSpc>
              <a:buFont typeface="Wingdings" panose="05000000000000000000" pitchFamily="2" charset="2"/>
              <a:buChar char="q"/>
            </a:pPr>
            <a:r>
              <a:rPr lang="fr-FR" sz="1800" dirty="0">
                <a:latin typeface="Times New Roman" panose="02020603050405020304" pitchFamily="18" charset="0"/>
                <a:cs typeface="Times New Roman" panose="02020603050405020304" pitchFamily="18" charset="0"/>
              </a:rPr>
              <a:t> Évaluer et estimer les coûts d’utilisation des ressources selon les projets et utilisateurs.</a:t>
            </a:r>
          </a:p>
          <a:p>
            <a:pPr marL="0" indent="0">
              <a:lnSpc>
                <a:spcPct val="160000"/>
              </a:lnSpc>
              <a:buNone/>
            </a:pPr>
            <a:r>
              <a:rPr lang="fr-FR" sz="1800" dirty="0">
                <a:latin typeface="Times New Roman" panose="02020603050405020304" pitchFamily="18" charset="0"/>
                <a:cs typeface="Times New Roman" panose="02020603050405020304" pitchFamily="18" charset="0"/>
              </a:rPr>
              <a:t>À terme, le projet vise à améliorer la visibilité sur l’utilisation du cloud, optimiser la gestion des ressources et faciliter la facturation basée sur la consommation réelle.</a:t>
            </a:r>
          </a:p>
          <a:p>
            <a:pPr marL="0" indent="0">
              <a:lnSpc>
                <a:spcPct val="160000"/>
              </a:lnSpc>
              <a:buNone/>
            </a:pPr>
            <a:endParaRPr lang="fr-F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324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BEFB00-643F-49C7-A254-39C8E60E60AF}"/>
              </a:ext>
            </a:extLst>
          </p:cNvPr>
          <p:cNvSpPr>
            <a:spLocks noGrp="1"/>
          </p:cNvSpPr>
          <p:nvPr>
            <p:ph type="title"/>
          </p:nvPr>
        </p:nvSpPr>
        <p:spPr/>
        <p:txBody>
          <a:bodyPr/>
          <a:lstStyle/>
          <a:p>
            <a:r>
              <a:rPr lang="fr-CM" dirty="0"/>
              <a:t>BESOINS FONCTIONNELS</a:t>
            </a:r>
          </a:p>
        </p:txBody>
      </p:sp>
      <p:graphicFrame>
        <p:nvGraphicFramePr>
          <p:cNvPr id="4" name="Espace réservé du contenu 3">
            <a:extLst>
              <a:ext uri="{FF2B5EF4-FFF2-40B4-BE49-F238E27FC236}">
                <a16:creationId xmlns:a16="http://schemas.microsoft.com/office/drawing/2014/main" id="{D74BBEF4-BE09-465D-AB92-4AE176520CED}"/>
              </a:ext>
            </a:extLst>
          </p:cNvPr>
          <p:cNvGraphicFramePr>
            <a:graphicFrameLocks noGrp="1"/>
          </p:cNvGraphicFramePr>
          <p:nvPr>
            <p:ph idx="1"/>
            <p:extLst>
              <p:ext uri="{D42A27DB-BD31-4B8C-83A1-F6EECF244321}">
                <p14:modId xmlns:p14="http://schemas.microsoft.com/office/powerpoint/2010/main" val="3905454561"/>
              </p:ext>
            </p:extLst>
          </p:nvPr>
        </p:nvGraphicFramePr>
        <p:xfrm>
          <a:off x="1023938" y="1945341"/>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9662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BEFB00-643F-49C7-A254-39C8E60E60AF}"/>
              </a:ext>
            </a:extLst>
          </p:cNvPr>
          <p:cNvSpPr>
            <a:spLocks noGrp="1"/>
          </p:cNvSpPr>
          <p:nvPr>
            <p:ph type="title"/>
          </p:nvPr>
        </p:nvSpPr>
        <p:spPr/>
        <p:txBody>
          <a:bodyPr/>
          <a:lstStyle/>
          <a:p>
            <a:r>
              <a:rPr lang="fr-CM" dirty="0"/>
              <a:t>BESOINS FONCTIONNELS</a:t>
            </a:r>
          </a:p>
        </p:txBody>
      </p:sp>
      <p:graphicFrame>
        <p:nvGraphicFramePr>
          <p:cNvPr id="4" name="Espace réservé du contenu 3">
            <a:extLst>
              <a:ext uri="{FF2B5EF4-FFF2-40B4-BE49-F238E27FC236}">
                <a16:creationId xmlns:a16="http://schemas.microsoft.com/office/drawing/2014/main" id="{D74BBEF4-BE09-465D-AB92-4AE176520CED}"/>
              </a:ext>
            </a:extLst>
          </p:cNvPr>
          <p:cNvGraphicFramePr>
            <a:graphicFrameLocks noGrp="1"/>
          </p:cNvGraphicFramePr>
          <p:nvPr>
            <p:ph idx="1"/>
            <p:extLst>
              <p:ext uri="{D42A27DB-BD31-4B8C-83A1-F6EECF244321}">
                <p14:modId xmlns:p14="http://schemas.microsoft.com/office/powerpoint/2010/main" val="2879182817"/>
              </p:ext>
            </p:extLst>
          </p:nvPr>
        </p:nvGraphicFramePr>
        <p:xfrm>
          <a:off x="762000" y="1685365"/>
          <a:ext cx="9793942" cy="45874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4831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1A8497-0187-44FC-A9CC-CD2F003E5ECB}"/>
              </a:ext>
            </a:extLst>
          </p:cNvPr>
          <p:cNvSpPr>
            <a:spLocks noGrp="1"/>
          </p:cNvSpPr>
          <p:nvPr>
            <p:ph type="title"/>
          </p:nvPr>
        </p:nvSpPr>
        <p:spPr>
          <a:xfrm>
            <a:off x="986421" y="572447"/>
            <a:ext cx="9720072" cy="1499616"/>
          </a:xfrm>
        </p:spPr>
        <p:txBody>
          <a:bodyPr/>
          <a:lstStyle/>
          <a:p>
            <a:r>
              <a:rPr lang="fr-CM" dirty="0"/>
              <a:t>DESCRIPTION DU MODELE DE FACTURATION</a:t>
            </a:r>
          </a:p>
        </p:txBody>
      </p:sp>
      <p:sp>
        <p:nvSpPr>
          <p:cNvPr id="3" name="Espace réservé du contenu 2">
            <a:extLst>
              <a:ext uri="{FF2B5EF4-FFF2-40B4-BE49-F238E27FC236}">
                <a16:creationId xmlns:a16="http://schemas.microsoft.com/office/drawing/2014/main" id="{2A1421F4-8596-490B-9233-357930C59F28}"/>
              </a:ext>
            </a:extLst>
          </p:cNvPr>
          <p:cNvSpPr>
            <a:spLocks noGrp="1"/>
          </p:cNvSpPr>
          <p:nvPr>
            <p:ph idx="1"/>
          </p:nvPr>
        </p:nvSpPr>
        <p:spPr>
          <a:xfrm>
            <a:off x="836756" y="1696825"/>
            <a:ext cx="11059871" cy="4807670"/>
          </a:xfrm>
        </p:spPr>
        <p:txBody>
          <a:bodyPr>
            <a:noAutofit/>
          </a:bodyPr>
          <a:lstStyle/>
          <a:p>
            <a:pPr marL="0" indent="0">
              <a:lnSpc>
                <a:spcPct val="160000"/>
              </a:lnSpc>
              <a:buNone/>
            </a:pPr>
            <a:r>
              <a:rPr lang="fr-CM" sz="2400" b="1" dirty="0"/>
              <a:t>Principe général</a:t>
            </a:r>
          </a:p>
          <a:p>
            <a:pPr marL="0" indent="0">
              <a:lnSpc>
                <a:spcPct val="150000"/>
              </a:lnSpc>
              <a:buNone/>
            </a:pPr>
            <a:r>
              <a:rPr lang="fr-FR" sz="2400" dirty="0"/>
              <a:t>Le modèle de facturation retenu dans ce projet repose sur le principe de la consommation réelle des ressources dans l’environnement OpenStack.</a:t>
            </a:r>
            <a:br>
              <a:rPr lang="fr-FR" sz="2400" dirty="0"/>
            </a:br>
            <a:r>
              <a:rPr lang="fr-FR" sz="2400" dirty="0"/>
              <a:t>Chaque ressource (machine virtuelle, volume, stockage, réseau, etc.) génère des métriques mesurées par Ceilometer et historisées dans Gnocchi.</a:t>
            </a:r>
            <a:br>
              <a:rPr lang="fr-FR" sz="2400" dirty="0"/>
            </a:br>
            <a:r>
              <a:rPr lang="fr-FR" sz="2400" dirty="0"/>
              <a:t>Ces métriques sont ensuite converties en unités de facturation selon un plan tarifaire prédéfini. L’objectif est de proposer une facturation équitable, transparente et ajustée à l’usage réel des utilisateurs ou projets.</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9610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1A8497-0187-44FC-A9CC-CD2F003E5ECB}"/>
              </a:ext>
            </a:extLst>
          </p:cNvPr>
          <p:cNvSpPr>
            <a:spLocks noGrp="1"/>
          </p:cNvSpPr>
          <p:nvPr>
            <p:ph type="title"/>
          </p:nvPr>
        </p:nvSpPr>
        <p:spPr>
          <a:xfrm>
            <a:off x="986421" y="572447"/>
            <a:ext cx="9720072" cy="1499616"/>
          </a:xfrm>
        </p:spPr>
        <p:txBody>
          <a:bodyPr/>
          <a:lstStyle/>
          <a:p>
            <a:r>
              <a:rPr lang="fr-CM" dirty="0"/>
              <a:t>DESCRIPTION DU MODELE DE FACTURATION</a:t>
            </a:r>
          </a:p>
        </p:txBody>
      </p:sp>
      <p:sp>
        <p:nvSpPr>
          <p:cNvPr id="3" name="Espace réservé du contenu 2">
            <a:extLst>
              <a:ext uri="{FF2B5EF4-FFF2-40B4-BE49-F238E27FC236}">
                <a16:creationId xmlns:a16="http://schemas.microsoft.com/office/drawing/2014/main" id="{2A1421F4-8596-490B-9233-357930C59F28}"/>
              </a:ext>
            </a:extLst>
          </p:cNvPr>
          <p:cNvSpPr>
            <a:spLocks noGrp="1"/>
          </p:cNvSpPr>
          <p:nvPr>
            <p:ph idx="1"/>
          </p:nvPr>
        </p:nvSpPr>
        <p:spPr>
          <a:xfrm>
            <a:off x="836756" y="1577788"/>
            <a:ext cx="11059871" cy="4926707"/>
          </a:xfrm>
        </p:spPr>
        <p:txBody>
          <a:bodyPr>
            <a:noAutofit/>
          </a:bodyPr>
          <a:lstStyle/>
          <a:p>
            <a:pPr marL="0" indent="0">
              <a:lnSpc>
                <a:spcPct val="160000"/>
              </a:lnSpc>
              <a:buNone/>
            </a:pPr>
            <a:r>
              <a:rPr lang="fr-CM" sz="2400" b="1" dirty="0"/>
              <a:t>Ressources facturées</a:t>
            </a:r>
          </a:p>
          <a:p>
            <a:pPr marL="0" indent="0">
              <a:lnSpc>
                <a:spcPct val="160000"/>
              </a:lnSpc>
              <a:buNone/>
            </a:pPr>
            <a:endParaRPr lang="fr-CM" sz="2400" b="1" dirty="0"/>
          </a:p>
          <a:p>
            <a:pPr marL="0" indent="0">
              <a:lnSpc>
                <a:spcPct val="160000"/>
              </a:lnSpc>
              <a:buNone/>
            </a:pPr>
            <a:endParaRPr lang="fr-CM" sz="2400" dirty="0"/>
          </a:p>
        </p:txBody>
      </p:sp>
      <p:graphicFrame>
        <p:nvGraphicFramePr>
          <p:cNvPr id="4" name="Tableau 4">
            <a:extLst>
              <a:ext uri="{FF2B5EF4-FFF2-40B4-BE49-F238E27FC236}">
                <a16:creationId xmlns:a16="http://schemas.microsoft.com/office/drawing/2014/main" id="{DFD07CFD-81DC-4393-8788-E79C8058D18F}"/>
              </a:ext>
            </a:extLst>
          </p:cNvPr>
          <p:cNvGraphicFramePr>
            <a:graphicFrameLocks noGrp="1"/>
          </p:cNvGraphicFramePr>
          <p:nvPr>
            <p:extLst>
              <p:ext uri="{D42A27DB-BD31-4B8C-83A1-F6EECF244321}">
                <p14:modId xmlns:p14="http://schemas.microsoft.com/office/powerpoint/2010/main" val="1510283585"/>
              </p:ext>
            </p:extLst>
          </p:nvPr>
        </p:nvGraphicFramePr>
        <p:xfrm>
          <a:off x="836756" y="2245100"/>
          <a:ext cx="10736680" cy="4226208"/>
        </p:xfrm>
        <a:graphic>
          <a:graphicData uri="http://schemas.openxmlformats.org/drawingml/2006/table">
            <a:tbl>
              <a:tblPr firstRow="1" bandRow="1">
                <a:tableStyleId>{5C22544A-7EE6-4342-B048-85BDC9FD1C3A}</a:tableStyleId>
              </a:tblPr>
              <a:tblGrid>
                <a:gridCol w="2684170">
                  <a:extLst>
                    <a:ext uri="{9D8B030D-6E8A-4147-A177-3AD203B41FA5}">
                      <a16:colId xmlns:a16="http://schemas.microsoft.com/office/drawing/2014/main" val="1681383231"/>
                    </a:ext>
                  </a:extLst>
                </a:gridCol>
                <a:gridCol w="2684170">
                  <a:extLst>
                    <a:ext uri="{9D8B030D-6E8A-4147-A177-3AD203B41FA5}">
                      <a16:colId xmlns:a16="http://schemas.microsoft.com/office/drawing/2014/main" val="4294759278"/>
                    </a:ext>
                  </a:extLst>
                </a:gridCol>
                <a:gridCol w="2684170">
                  <a:extLst>
                    <a:ext uri="{9D8B030D-6E8A-4147-A177-3AD203B41FA5}">
                      <a16:colId xmlns:a16="http://schemas.microsoft.com/office/drawing/2014/main" val="1328642621"/>
                    </a:ext>
                  </a:extLst>
                </a:gridCol>
                <a:gridCol w="2684170">
                  <a:extLst>
                    <a:ext uri="{9D8B030D-6E8A-4147-A177-3AD203B41FA5}">
                      <a16:colId xmlns:a16="http://schemas.microsoft.com/office/drawing/2014/main" val="3813178897"/>
                    </a:ext>
                  </a:extLst>
                </a:gridCol>
              </a:tblGrid>
              <a:tr h="385728">
                <a:tc>
                  <a:txBody>
                    <a:bodyPr/>
                    <a:lstStyle/>
                    <a:p>
                      <a:r>
                        <a:rPr lang="fr-CM" dirty="0"/>
                        <a:t>Catégorie</a:t>
                      </a:r>
                    </a:p>
                  </a:txBody>
                  <a:tcPr anchor="ctr"/>
                </a:tc>
                <a:tc>
                  <a:txBody>
                    <a:bodyPr/>
                    <a:lstStyle/>
                    <a:p>
                      <a:r>
                        <a:rPr lang="fr-CM" dirty="0"/>
                        <a:t>Ressource</a:t>
                      </a:r>
                    </a:p>
                  </a:txBody>
                  <a:tcPr/>
                </a:tc>
                <a:tc>
                  <a:txBody>
                    <a:bodyPr/>
                    <a:lstStyle/>
                    <a:p>
                      <a:r>
                        <a:rPr lang="fr-CM" dirty="0"/>
                        <a:t>Unité de mesure</a:t>
                      </a:r>
                    </a:p>
                  </a:txBody>
                  <a:tcPr/>
                </a:tc>
                <a:tc>
                  <a:txBody>
                    <a:bodyPr/>
                    <a:lstStyle/>
                    <a:p>
                      <a:r>
                        <a:rPr lang="fr-CM" dirty="0"/>
                        <a:t>Type de facturation</a:t>
                      </a:r>
                    </a:p>
                  </a:txBody>
                  <a:tcPr/>
                </a:tc>
                <a:extLst>
                  <a:ext uri="{0D108BD9-81ED-4DB2-BD59-A6C34878D82A}">
                    <a16:rowId xmlns:a16="http://schemas.microsoft.com/office/drawing/2014/main" val="3193725993"/>
                  </a:ext>
                </a:extLst>
              </a:tr>
              <a:tr h="634980">
                <a:tc rowSpan="2">
                  <a:txBody>
                    <a:bodyPr/>
                    <a:lstStyle/>
                    <a:p>
                      <a:r>
                        <a:rPr lang="fr-CM" dirty="0"/>
                        <a:t>Calcul (Compute)</a:t>
                      </a:r>
                    </a:p>
                  </a:txBody>
                  <a:tcPr/>
                </a:tc>
                <a:tc>
                  <a:txBody>
                    <a:bodyPr/>
                    <a:lstStyle/>
                    <a:p>
                      <a:r>
                        <a:rPr lang="fr-CM" dirty="0"/>
                        <a:t>Instance (VM)</a:t>
                      </a:r>
                    </a:p>
                  </a:txBody>
                  <a:tcPr>
                    <a:lnB w="12700" cap="flat" cmpd="sng" algn="ctr">
                      <a:solidFill>
                        <a:schemeClr val="tx1"/>
                      </a:solidFill>
                      <a:prstDash val="solid"/>
                      <a:round/>
                      <a:headEnd type="none" w="med" len="med"/>
                      <a:tailEnd type="none" w="med" len="med"/>
                    </a:lnB>
                  </a:tcPr>
                </a:tc>
                <a:tc>
                  <a:txBody>
                    <a:bodyPr/>
                    <a:lstStyle/>
                    <a:p>
                      <a:r>
                        <a:rPr lang="fr-CM" dirty="0"/>
                        <a:t>vCPU-heure</a:t>
                      </a:r>
                    </a:p>
                  </a:txBody>
                  <a:tcPr>
                    <a:lnB w="12700" cap="flat" cmpd="sng" algn="ctr">
                      <a:solidFill>
                        <a:schemeClr val="tx1"/>
                      </a:solidFill>
                      <a:prstDash val="solid"/>
                      <a:round/>
                      <a:headEnd type="none" w="med" len="med"/>
                      <a:tailEnd type="none" w="med" len="med"/>
                    </a:lnB>
                  </a:tcPr>
                </a:tc>
                <a:tc>
                  <a:txBody>
                    <a:bodyPr/>
                    <a:lstStyle/>
                    <a:p>
                      <a:r>
                        <a:rPr lang="fr-FR" dirty="0"/>
                        <a:t>Basée sur la </a:t>
                      </a:r>
                      <a:r>
                        <a:rPr lang="fr-FR" b="0" dirty="0"/>
                        <a:t>durée d’activation</a:t>
                      </a:r>
                      <a:endParaRPr lang="fr-CM" b="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9227893"/>
                  </a:ext>
                </a:extLst>
              </a:tr>
              <a:tr h="613465">
                <a:tc vMerge="1">
                  <a:txBody>
                    <a:bodyPr/>
                    <a:lstStyle/>
                    <a:p>
                      <a:endParaRPr lang="fr-CM"/>
                    </a:p>
                  </a:txBody>
                  <a:tcPr/>
                </a:tc>
                <a:tc>
                  <a:txBody>
                    <a:bodyPr/>
                    <a:lstStyle/>
                    <a:p>
                      <a:r>
                        <a:rPr lang="fr-CM" dirty="0"/>
                        <a:t>Mémoire RAM</a:t>
                      </a:r>
                    </a:p>
                  </a:txBody>
                  <a:tcPr>
                    <a:lnT w="12700" cap="flat" cmpd="sng" algn="ctr">
                      <a:solidFill>
                        <a:schemeClr val="tx1"/>
                      </a:solidFill>
                      <a:prstDash val="solid"/>
                      <a:round/>
                      <a:headEnd type="none" w="med" len="med"/>
                      <a:tailEnd type="none" w="med" len="med"/>
                    </a:lnT>
                  </a:tcPr>
                </a:tc>
                <a:tc>
                  <a:txBody>
                    <a:bodyPr/>
                    <a:lstStyle/>
                    <a:p>
                      <a:r>
                        <a:rPr lang="fr-CM" dirty="0"/>
                        <a:t>Go-heure</a:t>
                      </a:r>
                    </a:p>
                  </a:txBody>
                  <a:tcPr>
                    <a:lnT w="12700" cap="flat" cmpd="sng" algn="ctr">
                      <a:solidFill>
                        <a:schemeClr val="tx1"/>
                      </a:solidFill>
                      <a:prstDash val="solid"/>
                      <a:round/>
                      <a:headEnd type="none" w="med" len="med"/>
                      <a:tailEnd type="none" w="med" len="med"/>
                    </a:lnT>
                  </a:tcPr>
                </a:tc>
                <a:tc>
                  <a:txBody>
                    <a:bodyPr/>
                    <a:lstStyle/>
                    <a:p>
                      <a:r>
                        <a:rPr lang="fr-FR" dirty="0"/>
                        <a:t>Basée sur la </a:t>
                      </a:r>
                      <a:r>
                        <a:rPr lang="fr-FR" b="0" dirty="0"/>
                        <a:t>durée d’activation</a:t>
                      </a:r>
                      <a:endParaRPr lang="fr-CM" b="0"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8761098"/>
                  </a:ext>
                </a:extLst>
              </a:tr>
              <a:tr h="0">
                <a:tc rowSpan="2">
                  <a:txBody>
                    <a:bodyPr/>
                    <a:lstStyle/>
                    <a:p>
                      <a:r>
                        <a:rPr lang="fr-CM" dirty="0"/>
                        <a:t>Stockage (Storage)</a:t>
                      </a:r>
                    </a:p>
                  </a:txBody>
                  <a:tcPr/>
                </a:tc>
                <a:tc>
                  <a:txBody>
                    <a:bodyPr/>
                    <a:lstStyle/>
                    <a:p>
                      <a:r>
                        <a:rPr lang="fr-CM" dirty="0"/>
                        <a:t>Volume Cinder</a:t>
                      </a:r>
                    </a:p>
                  </a:txBody>
                  <a:tcPr>
                    <a:lnB w="12700" cap="flat" cmpd="sng" algn="ctr">
                      <a:solidFill>
                        <a:schemeClr val="tx1"/>
                      </a:solidFill>
                      <a:prstDash val="solid"/>
                      <a:round/>
                      <a:headEnd type="none" w="med" len="med"/>
                      <a:tailEnd type="none" w="med" len="med"/>
                    </a:lnB>
                  </a:tcPr>
                </a:tc>
                <a:tc>
                  <a:txBody>
                    <a:bodyPr/>
                    <a:lstStyle/>
                    <a:p>
                      <a:r>
                        <a:rPr lang="fr-CM" dirty="0"/>
                        <a:t>Go-heure</a:t>
                      </a:r>
                    </a:p>
                  </a:txBody>
                  <a:tcPr>
                    <a:lnB w="12700" cap="flat" cmpd="sng" algn="ctr">
                      <a:solidFill>
                        <a:schemeClr val="tx1"/>
                      </a:solidFill>
                      <a:prstDash val="solid"/>
                      <a:round/>
                      <a:headEnd type="none" w="med" len="med"/>
                      <a:tailEnd type="none" w="med" len="med"/>
                    </a:lnB>
                  </a:tcPr>
                </a:tc>
                <a:tc>
                  <a:txBody>
                    <a:bodyPr/>
                    <a:lstStyle/>
                    <a:p>
                      <a:r>
                        <a:rPr lang="fr-FR" dirty="0"/>
                        <a:t>Basée sur </a:t>
                      </a:r>
                      <a:r>
                        <a:rPr lang="fr-FR" b="0" dirty="0"/>
                        <a:t>la capacité réservée</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479385"/>
                  </a:ext>
                </a:extLst>
              </a:tr>
              <a:tr h="500230">
                <a:tc vMerge="1">
                  <a:txBody>
                    <a:bodyPr/>
                    <a:lstStyle/>
                    <a:p>
                      <a:endParaRPr lang="fr-CM"/>
                    </a:p>
                  </a:txBody>
                  <a:tcPr/>
                </a:tc>
                <a:tc>
                  <a:txBody>
                    <a:bodyPr/>
                    <a:lstStyle/>
                    <a:p>
                      <a:r>
                        <a:rPr lang="fr-CM" dirty="0"/>
                        <a:t>Objets Swift</a:t>
                      </a:r>
                    </a:p>
                  </a:txBody>
                  <a:tcPr>
                    <a:lnT w="12700" cap="flat" cmpd="sng" algn="ctr">
                      <a:solidFill>
                        <a:schemeClr val="tx1"/>
                      </a:solidFill>
                      <a:prstDash val="solid"/>
                      <a:round/>
                      <a:headEnd type="none" w="med" len="med"/>
                      <a:tailEnd type="none" w="med" len="med"/>
                    </a:lnT>
                  </a:tcPr>
                </a:tc>
                <a:tc>
                  <a:txBody>
                    <a:bodyPr/>
                    <a:lstStyle/>
                    <a:p>
                      <a:r>
                        <a:rPr lang="fr-CM" dirty="0"/>
                        <a:t>Go-heure</a:t>
                      </a:r>
                    </a:p>
                  </a:txBody>
                  <a:tcPr>
                    <a:lnT w="12700" cap="flat" cmpd="sng" algn="ctr">
                      <a:solidFill>
                        <a:schemeClr val="tx1"/>
                      </a:solidFill>
                      <a:prstDash val="solid"/>
                      <a:round/>
                      <a:headEnd type="none" w="med" len="med"/>
                      <a:tailEnd type="none" w="med" len="med"/>
                    </a:lnT>
                  </a:tcPr>
                </a:tc>
                <a:tc>
                  <a:txBody>
                    <a:bodyPr/>
                    <a:lstStyle/>
                    <a:p>
                      <a:r>
                        <a:rPr lang="fr-FR" dirty="0"/>
                        <a:t>Basée sur la </a:t>
                      </a:r>
                      <a:r>
                        <a:rPr lang="fr-FR" b="0" dirty="0"/>
                        <a:t>quantité stockée</a:t>
                      </a:r>
                      <a:endParaRPr lang="fr-CM" b="0"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70949507"/>
                  </a:ext>
                </a:extLst>
              </a:tr>
              <a:tr h="525399">
                <a:tc rowSpan="2">
                  <a:txBody>
                    <a:bodyPr/>
                    <a:lstStyle/>
                    <a:p>
                      <a:r>
                        <a:rPr lang="fr-CM" dirty="0"/>
                        <a:t>Réseau (Network)</a:t>
                      </a:r>
                    </a:p>
                  </a:txBody>
                  <a:tcPr/>
                </a:tc>
                <a:tc>
                  <a:txBody>
                    <a:bodyPr/>
                    <a:lstStyle/>
                    <a:p>
                      <a:r>
                        <a:rPr lang="fr-CM" dirty="0"/>
                        <a:t>Bande passante sortante</a:t>
                      </a:r>
                    </a:p>
                  </a:txBody>
                  <a:tcPr>
                    <a:lnB w="12700" cap="flat" cmpd="sng" algn="ctr">
                      <a:solidFill>
                        <a:schemeClr val="tx1"/>
                      </a:solidFill>
                      <a:prstDash val="solid"/>
                      <a:round/>
                      <a:headEnd type="none" w="med" len="med"/>
                      <a:tailEnd type="none" w="med" len="med"/>
                    </a:lnB>
                  </a:tcPr>
                </a:tc>
                <a:tc>
                  <a:txBody>
                    <a:bodyPr/>
                    <a:lstStyle/>
                    <a:p>
                      <a:r>
                        <a:rPr lang="fr-CM" dirty="0"/>
                        <a:t>Go transféré</a:t>
                      </a:r>
                    </a:p>
                  </a:txBody>
                  <a:tcPr>
                    <a:lnB w="12700" cap="flat" cmpd="sng" algn="ctr">
                      <a:solidFill>
                        <a:schemeClr val="tx1"/>
                      </a:solidFill>
                      <a:prstDash val="solid"/>
                      <a:round/>
                      <a:headEnd type="none" w="med" len="med"/>
                      <a:tailEnd type="none" w="med" len="med"/>
                    </a:lnB>
                  </a:tcPr>
                </a:tc>
                <a:tc>
                  <a:txBody>
                    <a:bodyPr/>
                    <a:lstStyle/>
                    <a:p>
                      <a:r>
                        <a:rPr lang="fr-FR" dirty="0"/>
                        <a:t>Basée sur la </a:t>
                      </a:r>
                      <a:r>
                        <a:rPr lang="fr-FR" b="0" dirty="0"/>
                        <a:t>consommation réelle</a:t>
                      </a:r>
                      <a:endParaRPr lang="fr-CM" b="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1017967"/>
                  </a:ext>
                </a:extLst>
              </a:tr>
              <a:tr h="450076">
                <a:tc vMerge="1">
                  <a:txBody>
                    <a:bodyPr/>
                    <a:lstStyle/>
                    <a:p>
                      <a:endParaRPr lang="fr-CM"/>
                    </a:p>
                  </a:txBody>
                  <a:tcPr/>
                </a:tc>
                <a:tc>
                  <a:txBody>
                    <a:bodyPr/>
                    <a:lstStyle/>
                    <a:p>
                      <a:r>
                        <a:rPr lang="fr-CM" dirty="0"/>
                        <a:t>IP flottante</a:t>
                      </a:r>
                    </a:p>
                  </a:txBody>
                  <a:tcPr>
                    <a:lnT w="12700" cap="flat" cmpd="sng" algn="ctr">
                      <a:solidFill>
                        <a:schemeClr val="tx1"/>
                      </a:solidFill>
                      <a:prstDash val="solid"/>
                      <a:round/>
                      <a:headEnd type="none" w="med" len="med"/>
                      <a:tailEnd type="none" w="med" len="med"/>
                    </a:lnT>
                  </a:tcPr>
                </a:tc>
                <a:tc>
                  <a:txBody>
                    <a:bodyPr/>
                    <a:lstStyle/>
                    <a:p>
                      <a:r>
                        <a:rPr lang="fr-CM" dirty="0"/>
                        <a:t>Heure</a:t>
                      </a:r>
                    </a:p>
                  </a:txBody>
                  <a:tcPr>
                    <a:lnT w="12700" cap="flat" cmpd="sng" algn="ctr">
                      <a:solidFill>
                        <a:schemeClr val="tx1"/>
                      </a:solidFill>
                      <a:prstDash val="solid"/>
                      <a:round/>
                      <a:headEnd type="none" w="med" len="med"/>
                      <a:tailEnd type="none" w="med" len="med"/>
                    </a:lnT>
                  </a:tcPr>
                </a:tc>
                <a:tc>
                  <a:txBody>
                    <a:bodyPr/>
                    <a:lstStyle/>
                    <a:p>
                      <a:r>
                        <a:rPr lang="fr-FR" dirty="0"/>
                        <a:t>Basée sur la </a:t>
                      </a:r>
                      <a:r>
                        <a:rPr lang="fr-FR" b="0" dirty="0"/>
                        <a:t>durée d’allocation</a:t>
                      </a:r>
                      <a:endParaRPr lang="fr-CM" b="0"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94181038"/>
                  </a:ext>
                </a:extLst>
              </a:tr>
            </a:tbl>
          </a:graphicData>
        </a:graphic>
      </p:graphicFrame>
    </p:spTree>
    <p:extLst>
      <p:ext uri="{BB962C8B-B14F-4D97-AF65-F5344CB8AC3E}">
        <p14:creationId xmlns:p14="http://schemas.microsoft.com/office/powerpoint/2010/main" val="351967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1A8497-0187-44FC-A9CC-CD2F003E5ECB}"/>
              </a:ext>
            </a:extLst>
          </p:cNvPr>
          <p:cNvSpPr>
            <a:spLocks noGrp="1"/>
          </p:cNvSpPr>
          <p:nvPr>
            <p:ph type="title"/>
          </p:nvPr>
        </p:nvSpPr>
        <p:spPr>
          <a:xfrm>
            <a:off x="986421" y="572447"/>
            <a:ext cx="9720072" cy="1499616"/>
          </a:xfrm>
        </p:spPr>
        <p:txBody>
          <a:bodyPr/>
          <a:lstStyle/>
          <a:p>
            <a:r>
              <a:rPr lang="fr-CM" dirty="0"/>
              <a:t>DESCRIPTION DU MODELE DE FACTURATION</a:t>
            </a:r>
          </a:p>
        </p:txBody>
      </p:sp>
      <p:sp>
        <p:nvSpPr>
          <p:cNvPr id="3" name="Espace réservé du contenu 2">
            <a:extLst>
              <a:ext uri="{FF2B5EF4-FFF2-40B4-BE49-F238E27FC236}">
                <a16:creationId xmlns:a16="http://schemas.microsoft.com/office/drawing/2014/main" id="{2A1421F4-8596-490B-9233-357930C59F28}"/>
              </a:ext>
            </a:extLst>
          </p:cNvPr>
          <p:cNvSpPr>
            <a:spLocks noGrp="1"/>
          </p:cNvSpPr>
          <p:nvPr>
            <p:ph idx="1"/>
          </p:nvPr>
        </p:nvSpPr>
        <p:spPr>
          <a:xfrm>
            <a:off x="818827" y="1795437"/>
            <a:ext cx="10889079" cy="4327457"/>
          </a:xfrm>
        </p:spPr>
        <p:txBody>
          <a:bodyPr>
            <a:noAutofit/>
          </a:bodyPr>
          <a:lstStyle/>
          <a:p>
            <a:pPr marL="0" indent="0">
              <a:lnSpc>
                <a:spcPct val="150000"/>
              </a:lnSpc>
              <a:buNone/>
            </a:pPr>
            <a:r>
              <a:rPr lang="fr-CM" sz="2400" b="1" dirty="0"/>
              <a:t>Périodicité de facturation</a:t>
            </a:r>
          </a:p>
          <a:p>
            <a:pPr>
              <a:lnSpc>
                <a:spcPct val="150000"/>
              </a:lnSpc>
            </a:pPr>
            <a:r>
              <a:rPr lang="fr-FR" sz="2400" dirty="0"/>
              <a:t>La facturation s’effectue selon une périodicité configurable, dépendant du contexte d’utilisation :</a:t>
            </a:r>
          </a:p>
          <a:p>
            <a:pPr>
              <a:lnSpc>
                <a:spcPct val="150000"/>
              </a:lnSpc>
              <a:buFont typeface="Wingdings" panose="05000000000000000000" pitchFamily="2" charset="2"/>
              <a:buChar char="v"/>
            </a:pPr>
            <a:r>
              <a:rPr lang="fr-FR" sz="2400" b="1" dirty="0"/>
              <a:t> </a:t>
            </a:r>
            <a:r>
              <a:rPr lang="fr-FR" sz="2400" dirty="0"/>
              <a:t>Facturation horaire : adaptée aux environnements de test ou de courte durée ;</a:t>
            </a:r>
          </a:p>
          <a:p>
            <a:pPr>
              <a:lnSpc>
                <a:spcPct val="150000"/>
              </a:lnSpc>
              <a:buFont typeface="Wingdings" panose="05000000000000000000" pitchFamily="2" charset="2"/>
              <a:buChar char="v"/>
            </a:pPr>
            <a:r>
              <a:rPr lang="fr-FR" sz="2400" b="1" dirty="0"/>
              <a:t> </a:t>
            </a:r>
            <a:r>
              <a:rPr lang="fr-FR" sz="2400" dirty="0"/>
              <a:t>Facturation journalière ou hebdomadaire : pour un suivi régulier de la consommation ;</a:t>
            </a:r>
          </a:p>
          <a:p>
            <a:pPr>
              <a:lnSpc>
                <a:spcPct val="150000"/>
              </a:lnSpc>
              <a:buFont typeface="Wingdings" panose="05000000000000000000" pitchFamily="2" charset="2"/>
              <a:buChar char="v"/>
            </a:pPr>
            <a:r>
              <a:rPr lang="fr-FR" sz="2400" b="1" dirty="0"/>
              <a:t> </a:t>
            </a:r>
            <a:r>
              <a:rPr lang="fr-FR" sz="2400" dirty="0"/>
              <a:t>Facturation mensuelle : mode standard pour les projets de production.</a:t>
            </a:r>
          </a:p>
          <a:p>
            <a:pPr marL="0" indent="0">
              <a:lnSpc>
                <a:spcPct val="150000"/>
              </a:lnSpc>
              <a:buNone/>
            </a:pPr>
            <a:endParaRPr lang="fr-CM" sz="2400" dirty="0"/>
          </a:p>
        </p:txBody>
      </p:sp>
    </p:spTree>
    <p:extLst>
      <p:ext uri="{BB962C8B-B14F-4D97-AF65-F5344CB8AC3E}">
        <p14:creationId xmlns:p14="http://schemas.microsoft.com/office/powerpoint/2010/main" val="1665912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1A8497-0187-44FC-A9CC-CD2F003E5ECB}"/>
              </a:ext>
            </a:extLst>
          </p:cNvPr>
          <p:cNvSpPr>
            <a:spLocks noGrp="1"/>
          </p:cNvSpPr>
          <p:nvPr>
            <p:ph type="title"/>
          </p:nvPr>
        </p:nvSpPr>
        <p:spPr>
          <a:xfrm>
            <a:off x="986421" y="572447"/>
            <a:ext cx="9720072" cy="1499616"/>
          </a:xfrm>
        </p:spPr>
        <p:txBody>
          <a:bodyPr/>
          <a:lstStyle/>
          <a:p>
            <a:r>
              <a:rPr lang="fr-CM" dirty="0"/>
              <a:t>DESCRIPTION DU MODELE DE FACTURATION</a:t>
            </a:r>
          </a:p>
        </p:txBody>
      </p:sp>
      <p:sp>
        <p:nvSpPr>
          <p:cNvPr id="3" name="Espace réservé du contenu 2">
            <a:extLst>
              <a:ext uri="{FF2B5EF4-FFF2-40B4-BE49-F238E27FC236}">
                <a16:creationId xmlns:a16="http://schemas.microsoft.com/office/drawing/2014/main" id="{2A1421F4-8596-490B-9233-357930C59F28}"/>
              </a:ext>
            </a:extLst>
          </p:cNvPr>
          <p:cNvSpPr>
            <a:spLocks noGrp="1"/>
          </p:cNvSpPr>
          <p:nvPr>
            <p:ph idx="1"/>
          </p:nvPr>
        </p:nvSpPr>
        <p:spPr>
          <a:xfrm>
            <a:off x="818827" y="1795437"/>
            <a:ext cx="10889079" cy="4327457"/>
          </a:xfrm>
        </p:spPr>
        <p:txBody>
          <a:bodyPr>
            <a:noAutofit/>
          </a:bodyPr>
          <a:lstStyle/>
          <a:p>
            <a:pPr marL="0" indent="0">
              <a:lnSpc>
                <a:spcPct val="150000"/>
              </a:lnSpc>
              <a:buNone/>
            </a:pPr>
            <a:r>
              <a:rPr lang="fr-CM" sz="2400" b="1" dirty="0"/>
              <a:t>Mode de calcul</a:t>
            </a:r>
          </a:p>
          <a:p>
            <a:pPr>
              <a:lnSpc>
                <a:spcPct val="150000"/>
              </a:lnSpc>
            </a:pPr>
            <a:r>
              <a:rPr lang="fr-CM" sz="2400" dirty="0"/>
              <a:t>Le coût global est déterminé selon la formule suivante :</a:t>
            </a:r>
          </a:p>
          <a:p>
            <a:pPr>
              <a:lnSpc>
                <a:spcPct val="150000"/>
              </a:lnSpc>
            </a:pPr>
            <a:r>
              <a:rPr lang="fr-CM" sz="2400" dirty="0"/>
              <a:t>Coût total projet= ∑(Quantité mesurée × Tarif unitaire × Durée), où</a:t>
            </a:r>
            <a:endParaRPr lang="fr-FR" sz="2400" dirty="0"/>
          </a:p>
          <a:p>
            <a:pPr>
              <a:lnSpc>
                <a:spcPct val="150000"/>
              </a:lnSpc>
              <a:buFont typeface="Wingdings" panose="05000000000000000000" pitchFamily="2" charset="2"/>
              <a:buChar char="v"/>
            </a:pPr>
            <a:r>
              <a:rPr lang="fr-FR" sz="2400" dirty="0"/>
              <a:t> Quantité mesurée provient de Gnocchi (métriques agrégées) ;</a:t>
            </a:r>
          </a:p>
          <a:p>
            <a:pPr>
              <a:lnSpc>
                <a:spcPct val="150000"/>
              </a:lnSpc>
              <a:buFont typeface="Wingdings" panose="05000000000000000000" pitchFamily="2" charset="2"/>
              <a:buChar char="v"/>
            </a:pPr>
            <a:r>
              <a:rPr lang="fr-FR" sz="2400" dirty="0"/>
              <a:t> Tarif unitaire correspond au prix défini pour chaque ressource (vCPU, Go, IP, etc.) ;</a:t>
            </a:r>
          </a:p>
          <a:p>
            <a:pPr>
              <a:lnSpc>
                <a:spcPct val="150000"/>
              </a:lnSpc>
              <a:buFont typeface="Wingdings" panose="05000000000000000000" pitchFamily="2" charset="2"/>
              <a:buChar char="v"/>
            </a:pPr>
            <a:r>
              <a:rPr lang="fr-FR" sz="2400" dirty="0"/>
              <a:t> Durée est calculée selon le temps d’utilisation ou d’allocation.</a:t>
            </a:r>
          </a:p>
          <a:p>
            <a:pPr>
              <a:lnSpc>
                <a:spcPct val="150000"/>
              </a:lnSpc>
            </a:pPr>
            <a:endParaRPr lang="fr-CM" sz="2400" dirty="0"/>
          </a:p>
        </p:txBody>
      </p:sp>
    </p:spTree>
    <p:extLst>
      <p:ext uri="{BB962C8B-B14F-4D97-AF65-F5344CB8AC3E}">
        <p14:creationId xmlns:p14="http://schemas.microsoft.com/office/powerpoint/2010/main" val="2876718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1A8497-0187-44FC-A9CC-CD2F003E5ECB}"/>
              </a:ext>
            </a:extLst>
          </p:cNvPr>
          <p:cNvSpPr>
            <a:spLocks noGrp="1"/>
          </p:cNvSpPr>
          <p:nvPr>
            <p:ph type="title"/>
          </p:nvPr>
        </p:nvSpPr>
        <p:spPr>
          <a:xfrm>
            <a:off x="986421" y="572447"/>
            <a:ext cx="9720072" cy="1499616"/>
          </a:xfrm>
        </p:spPr>
        <p:txBody>
          <a:bodyPr/>
          <a:lstStyle/>
          <a:p>
            <a:r>
              <a:rPr lang="fr-CM" dirty="0"/>
              <a:t>DESCRIPTION DU MODELE DE FACTURATION</a:t>
            </a:r>
          </a:p>
        </p:txBody>
      </p:sp>
      <p:sp>
        <p:nvSpPr>
          <p:cNvPr id="3" name="Espace réservé du contenu 2">
            <a:extLst>
              <a:ext uri="{FF2B5EF4-FFF2-40B4-BE49-F238E27FC236}">
                <a16:creationId xmlns:a16="http://schemas.microsoft.com/office/drawing/2014/main" id="{2A1421F4-8596-490B-9233-357930C59F28}"/>
              </a:ext>
            </a:extLst>
          </p:cNvPr>
          <p:cNvSpPr>
            <a:spLocks noGrp="1"/>
          </p:cNvSpPr>
          <p:nvPr>
            <p:ph idx="1"/>
          </p:nvPr>
        </p:nvSpPr>
        <p:spPr>
          <a:xfrm>
            <a:off x="818827" y="1795437"/>
            <a:ext cx="10889079" cy="4327457"/>
          </a:xfrm>
        </p:spPr>
        <p:txBody>
          <a:bodyPr>
            <a:noAutofit/>
          </a:bodyPr>
          <a:lstStyle/>
          <a:p>
            <a:pPr marL="0" indent="0">
              <a:lnSpc>
                <a:spcPct val="150000"/>
              </a:lnSpc>
              <a:buNone/>
            </a:pPr>
            <a:r>
              <a:rPr lang="fr-CM" sz="2400" b="1" dirty="0"/>
              <a:t>Plan tarifaire</a:t>
            </a:r>
          </a:p>
          <a:p>
            <a:pPr>
              <a:lnSpc>
                <a:spcPct val="150000"/>
              </a:lnSpc>
            </a:pPr>
            <a:endParaRPr lang="fr-CM" sz="2400" dirty="0"/>
          </a:p>
        </p:txBody>
      </p:sp>
      <p:graphicFrame>
        <p:nvGraphicFramePr>
          <p:cNvPr id="4" name="Tableau 4">
            <a:extLst>
              <a:ext uri="{FF2B5EF4-FFF2-40B4-BE49-F238E27FC236}">
                <a16:creationId xmlns:a16="http://schemas.microsoft.com/office/drawing/2014/main" id="{1A043A69-9844-435D-8A39-6F90F0465AA6}"/>
              </a:ext>
            </a:extLst>
          </p:cNvPr>
          <p:cNvGraphicFramePr>
            <a:graphicFrameLocks noGrp="1"/>
          </p:cNvGraphicFramePr>
          <p:nvPr>
            <p:extLst>
              <p:ext uri="{D42A27DB-BD31-4B8C-83A1-F6EECF244321}">
                <p14:modId xmlns:p14="http://schemas.microsoft.com/office/powerpoint/2010/main" val="1432285314"/>
              </p:ext>
            </p:extLst>
          </p:nvPr>
        </p:nvGraphicFramePr>
        <p:xfrm>
          <a:off x="818827" y="2592047"/>
          <a:ext cx="9887668" cy="3010893"/>
        </p:xfrm>
        <a:graphic>
          <a:graphicData uri="http://schemas.openxmlformats.org/drawingml/2006/table">
            <a:tbl>
              <a:tblPr firstRow="1" bandRow="1">
                <a:tableStyleId>{5C22544A-7EE6-4342-B048-85BDC9FD1C3A}</a:tableStyleId>
              </a:tblPr>
              <a:tblGrid>
                <a:gridCol w="2471917">
                  <a:extLst>
                    <a:ext uri="{9D8B030D-6E8A-4147-A177-3AD203B41FA5}">
                      <a16:colId xmlns:a16="http://schemas.microsoft.com/office/drawing/2014/main" val="1383603589"/>
                    </a:ext>
                  </a:extLst>
                </a:gridCol>
                <a:gridCol w="2471917">
                  <a:extLst>
                    <a:ext uri="{9D8B030D-6E8A-4147-A177-3AD203B41FA5}">
                      <a16:colId xmlns:a16="http://schemas.microsoft.com/office/drawing/2014/main" val="320883674"/>
                    </a:ext>
                  </a:extLst>
                </a:gridCol>
                <a:gridCol w="2471917">
                  <a:extLst>
                    <a:ext uri="{9D8B030D-6E8A-4147-A177-3AD203B41FA5}">
                      <a16:colId xmlns:a16="http://schemas.microsoft.com/office/drawing/2014/main" val="3792934617"/>
                    </a:ext>
                  </a:extLst>
                </a:gridCol>
                <a:gridCol w="2471917">
                  <a:extLst>
                    <a:ext uri="{9D8B030D-6E8A-4147-A177-3AD203B41FA5}">
                      <a16:colId xmlns:a16="http://schemas.microsoft.com/office/drawing/2014/main" val="3401765048"/>
                    </a:ext>
                  </a:extLst>
                </a:gridCol>
              </a:tblGrid>
              <a:tr h="425067">
                <a:tc>
                  <a:txBody>
                    <a:bodyPr/>
                    <a:lstStyle/>
                    <a:p>
                      <a:r>
                        <a:rPr lang="fr-CM" dirty="0"/>
                        <a:t>Ressource</a:t>
                      </a:r>
                    </a:p>
                  </a:txBody>
                  <a:tcPr anchor="ctr"/>
                </a:tc>
                <a:tc>
                  <a:txBody>
                    <a:bodyPr/>
                    <a:lstStyle/>
                    <a:p>
                      <a:r>
                        <a:rPr lang="fr-CM" dirty="0"/>
                        <a:t>Unité</a:t>
                      </a:r>
                    </a:p>
                  </a:txBody>
                  <a:tcPr/>
                </a:tc>
                <a:tc>
                  <a:txBody>
                    <a:bodyPr/>
                    <a:lstStyle/>
                    <a:p>
                      <a:r>
                        <a:rPr lang="fr-CM" dirty="0"/>
                        <a:t>Tarif unitaire</a:t>
                      </a:r>
                    </a:p>
                  </a:txBody>
                  <a:tcPr/>
                </a:tc>
                <a:tc>
                  <a:txBody>
                    <a:bodyPr/>
                    <a:lstStyle/>
                    <a:p>
                      <a:r>
                        <a:rPr lang="fr-CM" dirty="0"/>
                        <a:t>Mode</a:t>
                      </a:r>
                    </a:p>
                  </a:txBody>
                  <a:tcPr anchor="ctr"/>
                </a:tc>
                <a:extLst>
                  <a:ext uri="{0D108BD9-81ED-4DB2-BD59-A6C34878D82A}">
                    <a16:rowId xmlns:a16="http://schemas.microsoft.com/office/drawing/2014/main" val="551651772"/>
                  </a:ext>
                </a:extLst>
              </a:tr>
              <a:tr h="430971">
                <a:tc>
                  <a:txBody>
                    <a:bodyPr/>
                    <a:lstStyle/>
                    <a:p>
                      <a:r>
                        <a:rPr lang="fr-CM" dirty="0"/>
                        <a:t>vCPU</a:t>
                      </a:r>
                    </a:p>
                  </a:txBody>
                  <a:tcPr/>
                </a:tc>
                <a:tc>
                  <a:txBody>
                    <a:bodyPr/>
                    <a:lstStyle/>
                    <a:p>
                      <a:r>
                        <a:rPr lang="fr-CM" dirty="0"/>
                        <a:t>Par heure</a:t>
                      </a:r>
                    </a:p>
                  </a:txBody>
                  <a:tcPr/>
                </a:tc>
                <a:tc>
                  <a:txBody>
                    <a:bodyPr/>
                    <a:lstStyle/>
                    <a:p>
                      <a:r>
                        <a:rPr lang="fr-CM" dirty="0"/>
                        <a:t>0,05 FCFA</a:t>
                      </a:r>
                    </a:p>
                  </a:txBody>
                  <a:tcPr/>
                </a:tc>
                <a:tc>
                  <a:txBody>
                    <a:bodyPr/>
                    <a:lstStyle/>
                    <a:p>
                      <a:r>
                        <a:rPr lang="fr-CM" dirty="0"/>
                        <a:t>À l’activation</a:t>
                      </a:r>
                    </a:p>
                  </a:txBody>
                  <a:tcPr/>
                </a:tc>
                <a:extLst>
                  <a:ext uri="{0D108BD9-81ED-4DB2-BD59-A6C34878D82A}">
                    <a16:rowId xmlns:a16="http://schemas.microsoft.com/office/drawing/2014/main" val="779088596"/>
                  </a:ext>
                </a:extLst>
              </a:tr>
              <a:tr h="430971">
                <a:tc>
                  <a:txBody>
                    <a:bodyPr/>
                    <a:lstStyle/>
                    <a:p>
                      <a:r>
                        <a:rPr lang="fr-CM" dirty="0"/>
                        <a:t>Mémoire RAM</a:t>
                      </a:r>
                    </a:p>
                  </a:txBody>
                  <a:tcPr/>
                </a:tc>
                <a:tc>
                  <a:txBody>
                    <a:bodyPr/>
                    <a:lstStyle/>
                    <a:p>
                      <a:r>
                        <a:rPr lang="fr-CM" dirty="0"/>
                        <a:t>Go-heure</a:t>
                      </a:r>
                    </a:p>
                  </a:txBody>
                  <a:tcPr/>
                </a:tc>
                <a:tc>
                  <a:txBody>
                    <a:bodyPr/>
                    <a:lstStyle/>
                    <a:p>
                      <a:r>
                        <a:rPr lang="fr-CM" dirty="0"/>
                        <a:t>0,01 FCFA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dirty="0"/>
                        <a:t>À l’activation</a:t>
                      </a:r>
                    </a:p>
                  </a:txBody>
                  <a:tcPr/>
                </a:tc>
                <a:extLst>
                  <a:ext uri="{0D108BD9-81ED-4DB2-BD59-A6C34878D82A}">
                    <a16:rowId xmlns:a16="http://schemas.microsoft.com/office/drawing/2014/main" val="1482078552"/>
                  </a:ext>
                </a:extLst>
              </a:tr>
              <a:tr h="430971">
                <a:tc>
                  <a:txBody>
                    <a:bodyPr/>
                    <a:lstStyle/>
                    <a:p>
                      <a:r>
                        <a:rPr lang="fr-CM" dirty="0"/>
                        <a:t>Volume Cinder</a:t>
                      </a:r>
                    </a:p>
                  </a:txBody>
                  <a:tcPr/>
                </a:tc>
                <a:tc>
                  <a:txBody>
                    <a:bodyPr/>
                    <a:lstStyle/>
                    <a:p>
                      <a:r>
                        <a:rPr lang="fr-CM" dirty="0"/>
                        <a:t>Go-heure</a:t>
                      </a:r>
                    </a:p>
                  </a:txBody>
                  <a:tcPr/>
                </a:tc>
                <a:tc>
                  <a:txBody>
                    <a:bodyPr/>
                    <a:lstStyle/>
                    <a:p>
                      <a:r>
                        <a:rPr lang="fr-CM" dirty="0"/>
                        <a:t>0,005 FCFA</a:t>
                      </a:r>
                    </a:p>
                  </a:txBody>
                  <a:tcPr/>
                </a:tc>
                <a:tc>
                  <a:txBody>
                    <a:bodyPr/>
                    <a:lstStyle/>
                    <a:p>
                      <a:r>
                        <a:rPr lang="fr-CM" dirty="0"/>
                        <a:t>À la réservation</a:t>
                      </a:r>
                    </a:p>
                  </a:txBody>
                  <a:tcPr/>
                </a:tc>
                <a:extLst>
                  <a:ext uri="{0D108BD9-81ED-4DB2-BD59-A6C34878D82A}">
                    <a16:rowId xmlns:a16="http://schemas.microsoft.com/office/drawing/2014/main" val="1162130631"/>
                  </a:ext>
                </a:extLst>
              </a:tr>
              <a:tr h="430971">
                <a:tc>
                  <a:txBody>
                    <a:bodyPr/>
                    <a:lstStyle/>
                    <a:p>
                      <a:r>
                        <a:rPr lang="fr-CM" dirty="0"/>
                        <a:t>Swift (Stockage objet)</a:t>
                      </a:r>
                    </a:p>
                  </a:txBody>
                  <a:tcPr/>
                </a:tc>
                <a:tc>
                  <a:txBody>
                    <a:bodyPr/>
                    <a:lstStyle/>
                    <a:p>
                      <a:r>
                        <a:rPr lang="fr-CM" dirty="0"/>
                        <a:t>Go-heure</a:t>
                      </a:r>
                    </a:p>
                  </a:txBody>
                  <a:tcPr/>
                </a:tc>
                <a:tc>
                  <a:txBody>
                    <a:bodyPr/>
                    <a:lstStyle/>
                    <a:p>
                      <a:r>
                        <a:rPr lang="fr-CM" dirty="0"/>
                        <a:t>0,02 FCFA</a:t>
                      </a:r>
                    </a:p>
                  </a:txBody>
                  <a:tcPr/>
                </a:tc>
                <a:tc>
                  <a:txBody>
                    <a:bodyPr/>
                    <a:lstStyle/>
                    <a:p>
                      <a:r>
                        <a:rPr lang="fr-CM" dirty="0"/>
                        <a:t>À la consommation</a:t>
                      </a:r>
                    </a:p>
                  </a:txBody>
                  <a:tcPr/>
                </a:tc>
                <a:extLst>
                  <a:ext uri="{0D108BD9-81ED-4DB2-BD59-A6C34878D82A}">
                    <a16:rowId xmlns:a16="http://schemas.microsoft.com/office/drawing/2014/main" val="2599505855"/>
                  </a:ext>
                </a:extLst>
              </a:tr>
              <a:tr h="430971">
                <a:tc>
                  <a:txBody>
                    <a:bodyPr/>
                    <a:lstStyle/>
                    <a:p>
                      <a:r>
                        <a:rPr lang="fr-CM" dirty="0"/>
                        <a:t>IP flottante</a:t>
                      </a:r>
                    </a:p>
                  </a:txBody>
                  <a:tcPr/>
                </a:tc>
                <a:tc>
                  <a:txBody>
                    <a:bodyPr/>
                    <a:lstStyle/>
                    <a:p>
                      <a:r>
                        <a:rPr lang="fr-CM" dirty="0"/>
                        <a:t>heure</a:t>
                      </a:r>
                    </a:p>
                  </a:txBody>
                  <a:tcPr/>
                </a:tc>
                <a:tc>
                  <a:txBody>
                    <a:bodyPr/>
                    <a:lstStyle/>
                    <a:p>
                      <a:r>
                        <a:rPr lang="fr-CM" dirty="0"/>
                        <a:t>0,002 FCFA</a:t>
                      </a:r>
                    </a:p>
                  </a:txBody>
                  <a:tcPr/>
                </a:tc>
                <a:tc>
                  <a:txBody>
                    <a:bodyPr/>
                    <a:lstStyle/>
                    <a:p>
                      <a:r>
                        <a:rPr lang="fr-CM" dirty="0"/>
                        <a:t>À l’allocation</a:t>
                      </a:r>
                    </a:p>
                  </a:txBody>
                  <a:tcPr/>
                </a:tc>
                <a:extLst>
                  <a:ext uri="{0D108BD9-81ED-4DB2-BD59-A6C34878D82A}">
                    <a16:rowId xmlns:a16="http://schemas.microsoft.com/office/drawing/2014/main" val="3830367869"/>
                  </a:ext>
                </a:extLst>
              </a:tr>
              <a:tr h="430971">
                <a:tc>
                  <a:txBody>
                    <a:bodyPr/>
                    <a:lstStyle/>
                    <a:p>
                      <a:r>
                        <a:rPr lang="fr-CM" dirty="0"/>
                        <a:t>Bande passante sortante</a:t>
                      </a:r>
                    </a:p>
                  </a:txBody>
                  <a:tcPr/>
                </a:tc>
                <a:tc>
                  <a:txBody>
                    <a:bodyPr/>
                    <a:lstStyle/>
                    <a:p>
                      <a:r>
                        <a:rPr lang="fr-CM" dirty="0"/>
                        <a:t>Go transféré</a:t>
                      </a:r>
                    </a:p>
                  </a:txBody>
                  <a:tcPr/>
                </a:tc>
                <a:tc>
                  <a:txBody>
                    <a:bodyPr/>
                    <a:lstStyle/>
                    <a:p>
                      <a:r>
                        <a:rPr lang="fr-CM" dirty="0"/>
                        <a:t>0,01 FCFA</a:t>
                      </a:r>
                    </a:p>
                  </a:txBody>
                  <a:tcPr/>
                </a:tc>
                <a:tc>
                  <a:txBody>
                    <a:bodyPr/>
                    <a:lstStyle/>
                    <a:p>
                      <a:r>
                        <a:rPr lang="fr-CM"/>
                        <a:t>À la consommation</a:t>
                      </a:r>
                      <a:endParaRPr lang="fr-CM" dirty="0"/>
                    </a:p>
                  </a:txBody>
                  <a:tcPr/>
                </a:tc>
                <a:extLst>
                  <a:ext uri="{0D108BD9-81ED-4DB2-BD59-A6C34878D82A}">
                    <a16:rowId xmlns:a16="http://schemas.microsoft.com/office/drawing/2014/main" val="324228755"/>
                  </a:ext>
                </a:extLst>
              </a:tr>
            </a:tbl>
          </a:graphicData>
        </a:graphic>
      </p:graphicFrame>
    </p:spTree>
    <p:extLst>
      <p:ext uri="{BB962C8B-B14F-4D97-AF65-F5344CB8AC3E}">
        <p14:creationId xmlns:p14="http://schemas.microsoft.com/office/powerpoint/2010/main" val="2717760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506F67-7F22-4E35-8333-8504602EF598}"/>
              </a:ext>
            </a:extLst>
          </p:cNvPr>
          <p:cNvSpPr>
            <a:spLocks noGrp="1"/>
          </p:cNvSpPr>
          <p:nvPr>
            <p:ph type="ctrTitle"/>
          </p:nvPr>
        </p:nvSpPr>
        <p:spPr>
          <a:xfrm>
            <a:off x="1506070" y="4960137"/>
            <a:ext cx="6723529" cy="1463040"/>
          </a:xfrm>
        </p:spPr>
        <p:txBody>
          <a:bodyPr>
            <a:normAutofit/>
          </a:bodyPr>
          <a:lstStyle/>
          <a:p>
            <a:r>
              <a:rPr lang="fr-FR" sz="2400" b="1" dirty="0">
                <a:latin typeface="Times New Roman" panose="02020603050405020304" pitchFamily="18" charset="0"/>
                <a:cs typeface="Times New Roman" panose="02020603050405020304" pitchFamily="18" charset="0"/>
              </a:rPr>
              <a:t>Diagramme de cas d'utilisation</a:t>
            </a:r>
            <a:endParaRPr lang="fr-CM"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710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890CDEA7-82C6-411A-8531-8E4820D05D31}"/>
              </a:ext>
            </a:extLst>
          </p:cNvPr>
          <p:cNvSpPr txBox="1"/>
          <p:nvPr/>
        </p:nvSpPr>
        <p:spPr>
          <a:xfrm>
            <a:off x="3074894" y="2985247"/>
            <a:ext cx="7091082" cy="707886"/>
          </a:xfrm>
          <a:prstGeom prst="rect">
            <a:avLst/>
          </a:prstGeom>
          <a:noFill/>
        </p:spPr>
        <p:txBody>
          <a:bodyPr wrap="square" rtlCol="0">
            <a:spAutoFit/>
          </a:bodyPr>
          <a:lstStyle/>
          <a:p>
            <a:pPr algn="ctr"/>
            <a:r>
              <a:rPr lang="fr-CM" sz="4000" dirty="0">
                <a:latin typeface="Bahnschrift" panose="020B0502040204020203" pitchFamily="34" charset="0"/>
              </a:rPr>
              <a:t>Voir </a:t>
            </a:r>
            <a:r>
              <a:rPr lang="fr-CM" sz="4000" dirty="0" err="1">
                <a:latin typeface="Bahnschrift" panose="020B0502040204020203" pitchFamily="34" charset="0"/>
              </a:rPr>
              <a:t>PowerDesigner</a:t>
            </a:r>
            <a:endParaRPr lang="fr-CM" sz="4000" dirty="0">
              <a:latin typeface="Bahnschrift" panose="020B0502040204020203" pitchFamily="34" charset="0"/>
            </a:endParaRPr>
          </a:p>
        </p:txBody>
      </p:sp>
    </p:spTree>
    <p:extLst>
      <p:ext uri="{BB962C8B-B14F-4D97-AF65-F5344CB8AC3E}">
        <p14:creationId xmlns:p14="http://schemas.microsoft.com/office/powerpoint/2010/main" val="2271393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506F67-7F22-4E35-8333-8504602EF598}"/>
              </a:ext>
            </a:extLst>
          </p:cNvPr>
          <p:cNvSpPr>
            <a:spLocks noGrp="1"/>
          </p:cNvSpPr>
          <p:nvPr>
            <p:ph type="ctrTitle"/>
          </p:nvPr>
        </p:nvSpPr>
        <p:spPr>
          <a:xfrm>
            <a:off x="0" y="4924278"/>
            <a:ext cx="8118763" cy="1463040"/>
          </a:xfrm>
        </p:spPr>
        <p:txBody>
          <a:bodyPr>
            <a:normAutofit/>
          </a:bodyPr>
          <a:lstStyle/>
          <a:p>
            <a:r>
              <a:rPr lang="fr-FR" sz="2400" b="1" dirty="0">
                <a:latin typeface="Times New Roman" panose="02020603050405020304" pitchFamily="18" charset="0"/>
                <a:cs typeface="Times New Roman" panose="02020603050405020304" pitchFamily="18" charset="0"/>
              </a:rPr>
              <a:t>Description détaillée des cas d’utilisation</a:t>
            </a:r>
            <a:endParaRPr lang="fr-CM"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8131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au 13">
            <a:extLst>
              <a:ext uri="{FF2B5EF4-FFF2-40B4-BE49-F238E27FC236}">
                <a16:creationId xmlns:a16="http://schemas.microsoft.com/office/drawing/2014/main" id="{7A20F483-28AC-40F0-9E13-9ED0691F7A80}"/>
              </a:ext>
            </a:extLst>
          </p:cNvPr>
          <p:cNvGraphicFramePr>
            <a:graphicFrameLocks noGrp="1"/>
          </p:cNvGraphicFramePr>
          <p:nvPr>
            <p:ph idx="1"/>
            <p:extLst>
              <p:ext uri="{D42A27DB-BD31-4B8C-83A1-F6EECF244321}">
                <p14:modId xmlns:p14="http://schemas.microsoft.com/office/powerpoint/2010/main" val="35388284"/>
              </p:ext>
            </p:extLst>
          </p:nvPr>
        </p:nvGraphicFramePr>
        <p:xfrm>
          <a:off x="913821" y="923365"/>
          <a:ext cx="11107850" cy="5357590"/>
        </p:xfrm>
        <a:graphic>
          <a:graphicData uri="http://schemas.openxmlformats.org/drawingml/2006/table">
            <a:tbl>
              <a:tblPr firstRow="1" bandRow="1">
                <a:tableStyleId>{5C22544A-7EE6-4342-B048-85BDC9FD1C3A}</a:tableStyleId>
              </a:tblPr>
              <a:tblGrid>
                <a:gridCol w="1782771">
                  <a:extLst>
                    <a:ext uri="{9D8B030D-6E8A-4147-A177-3AD203B41FA5}">
                      <a16:colId xmlns:a16="http://schemas.microsoft.com/office/drawing/2014/main" val="700606067"/>
                    </a:ext>
                  </a:extLst>
                </a:gridCol>
                <a:gridCol w="9325079">
                  <a:extLst>
                    <a:ext uri="{9D8B030D-6E8A-4147-A177-3AD203B41FA5}">
                      <a16:colId xmlns:a16="http://schemas.microsoft.com/office/drawing/2014/main" val="645364640"/>
                    </a:ext>
                  </a:extLst>
                </a:gridCol>
              </a:tblGrid>
              <a:tr h="43641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a:solidFill>
                            <a:srgbClr val="000000"/>
                          </a:solidFill>
                          <a:effectLst/>
                          <a:latin typeface="Times New Roman" panose="02020603050405020304" pitchFamily="18" charset="0"/>
                          <a:cs typeface="Times New Roman" panose="02020603050405020304" pitchFamily="18" charset="0"/>
                        </a:rPr>
                        <a:t>Authentification de l’utilisateur</a:t>
                      </a:r>
                      <a:endParaRPr lang="fr-CM" sz="20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909538154"/>
                  </a:ext>
                </a:extLst>
              </a:tr>
              <a:tr h="503219">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Résumé</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Permet à un utilisateur autorisé d’accéder à la plateforme de monitoring après vérification de ses identifiants.</a:t>
                      </a:r>
                      <a:endParaRPr lang="fr-FR" sz="20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464595745"/>
                  </a:ext>
                </a:extLst>
              </a:tr>
              <a:tr h="43641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Acteur(s)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dirty="0">
                          <a:solidFill>
                            <a:srgbClr val="000000"/>
                          </a:solidFill>
                          <a:effectLst/>
                          <a:latin typeface="Times New Roman" panose="02020603050405020304" pitchFamily="18" charset="0"/>
                          <a:cs typeface="Times New Roman" panose="02020603050405020304" pitchFamily="18" charset="0"/>
                        </a:rPr>
                        <a:t>Utilisateur, Système d’authentification (Keystone)</a:t>
                      </a:r>
                      <a:endParaRPr lang="fr-CM" sz="20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587007750"/>
                  </a:ext>
                </a:extLst>
              </a:tr>
              <a:tr h="825948">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Description</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L’utilisateur saisit ses identifiants (nom d’utilisateur et mot de passe) pour se connecter. Le système vérifie les informations auprès du service d’authentification et accorde l’accès à l’interface de supervision si elles sont valides.</a:t>
                      </a:r>
                      <a:endParaRPr lang="fr-FR" sz="20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492082323"/>
                  </a:ext>
                </a:extLst>
              </a:tr>
              <a:tr h="43641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Préconditions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L’utilisateur dispose d’un compte valide dans le système d’authentification.</a:t>
                      </a:r>
                      <a:endParaRPr lang="fr-FR" sz="20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691970668"/>
                  </a:ext>
                </a:extLst>
              </a:tr>
              <a:tr h="43641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Postconditions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L’utilisateur est authentifié et accède à son tableau de bord.</a:t>
                      </a:r>
                      <a:endParaRPr lang="fr-FR" sz="20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637924698"/>
                  </a:ext>
                </a:extLst>
              </a:tr>
              <a:tr h="1373699">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nominal</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ouvre la page de connexion.</a:t>
                      </a:r>
                      <a:endParaRPr lang="fr-FR" sz="20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Il saisit son nom d’utilisateur et son mot de passe.</a:t>
                      </a:r>
                      <a:endParaRPr lang="fr-FR" sz="20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Le système vérifie les identifiants.</a:t>
                      </a:r>
                      <a:endParaRPr lang="fr-FR" sz="20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4. Le système redirige l’utilisateur vers le tableau de bord principal.</a:t>
                      </a:r>
                      <a:endParaRPr lang="fr-FR" sz="20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880761453"/>
                  </a:ext>
                </a:extLst>
              </a:tr>
              <a:tr h="833103">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Scénario alternatif</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3.a. Les identifiants sont incorrects:  un message d’erreur s’affiche et l’accès est refusé.</a:t>
                      </a:r>
                      <a:endParaRPr lang="fr-FR" sz="20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3.b. Le compte est désactivé: le système bloque la connexion et notifie l’utilisateur.</a:t>
                      </a:r>
                      <a:endParaRPr lang="fr-FR" sz="20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4278288503"/>
                  </a:ext>
                </a:extLst>
              </a:tr>
            </a:tbl>
          </a:graphicData>
        </a:graphic>
      </p:graphicFrame>
      <p:sp>
        <p:nvSpPr>
          <p:cNvPr id="4" name="Titre 3">
            <a:extLst>
              <a:ext uri="{FF2B5EF4-FFF2-40B4-BE49-F238E27FC236}">
                <a16:creationId xmlns:a16="http://schemas.microsoft.com/office/drawing/2014/main" id="{DA3BF564-EFD0-4A39-8BA3-B3174265D0B1}"/>
              </a:ext>
            </a:extLst>
          </p:cNvPr>
          <p:cNvSpPr>
            <a:spLocks noGrp="1"/>
          </p:cNvSpPr>
          <p:nvPr>
            <p:ph type="title"/>
          </p:nvPr>
        </p:nvSpPr>
        <p:spPr>
          <a:xfrm>
            <a:off x="824173" y="356726"/>
            <a:ext cx="10614791" cy="593533"/>
          </a:xfrm>
        </p:spPr>
        <p:txBody>
          <a:bodyPr>
            <a:noAutofit/>
          </a:bodyPr>
          <a:lstStyle/>
          <a:p>
            <a:pPr algn="ctr"/>
            <a:r>
              <a:rPr lang="fr-FR" sz="1600" b="1" dirty="0">
                <a:solidFill>
                  <a:srgbClr val="000000"/>
                </a:solidFill>
                <a:latin typeface="Times New Roman" panose="02020603050405020304" pitchFamily="18" charset="0"/>
                <a:cs typeface="Times New Roman" panose="02020603050405020304" pitchFamily="18" charset="0"/>
              </a:rPr>
              <a:t>Cas d’utilisation 1 : Se connecter</a:t>
            </a:r>
            <a:br>
              <a:rPr lang="fr-CM" sz="1600" b="1" dirty="0">
                <a:latin typeface="Times New Roman" panose="02020603050405020304" pitchFamily="18" charset="0"/>
                <a:cs typeface="Times New Roman" panose="02020603050405020304" pitchFamily="18" charset="0"/>
              </a:rPr>
            </a:br>
            <a:endParaRPr lang="fr-CM"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1646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927C3C-48B8-412B-8C0E-F37C44A9C17E}"/>
              </a:ext>
            </a:extLst>
          </p:cNvPr>
          <p:cNvSpPr>
            <a:spLocks noGrp="1"/>
          </p:cNvSpPr>
          <p:nvPr>
            <p:ph type="title"/>
          </p:nvPr>
        </p:nvSpPr>
        <p:spPr>
          <a:xfrm>
            <a:off x="869575" y="176783"/>
            <a:ext cx="11149736" cy="809335"/>
          </a:xfrm>
        </p:spPr>
        <p:txBody>
          <a:bodyPr>
            <a:normAutofit/>
          </a:bodyPr>
          <a:lstStyle/>
          <a:p>
            <a:pPr algn="ctr"/>
            <a:r>
              <a:rPr lang="fr-FR" sz="1600" b="1" dirty="0">
                <a:latin typeface="Times New Roman" panose="02020603050405020304" pitchFamily="18" charset="0"/>
                <a:cs typeface="Times New Roman" panose="02020603050405020304" pitchFamily="18" charset="0"/>
              </a:rPr>
              <a:t>Cas d’utilisation 2 : Afficher la liste des projets</a:t>
            </a:r>
            <a:endParaRPr lang="fr-CM" sz="1600" b="1" dirty="0">
              <a:latin typeface="Times New Roman" panose="02020603050405020304" pitchFamily="18" charset="0"/>
              <a:cs typeface="Times New Roman" panose="02020603050405020304" pitchFamily="18" charset="0"/>
            </a:endParaRPr>
          </a:p>
        </p:txBody>
      </p:sp>
      <p:graphicFrame>
        <p:nvGraphicFramePr>
          <p:cNvPr id="4" name="Tableau 4">
            <a:extLst>
              <a:ext uri="{FF2B5EF4-FFF2-40B4-BE49-F238E27FC236}">
                <a16:creationId xmlns:a16="http://schemas.microsoft.com/office/drawing/2014/main" id="{81A866E7-2C74-4D0E-B4CD-64D945DFA3A8}"/>
              </a:ext>
            </a:extLst>
          </p:cNvPr>
          <p:cNvGraphicFramePr>
            <a:graphicFrameLocks noGrp="1"/>
          </p:cNvGraphicFramePr>
          <p:nvPr>
            <p:ph idx="1"/>
            <p:extLst>
              <p:ext uri="{D42A27DB-BD31-4B8C-83A1-F6EECF244321}">
                <p14:modId xmlns:p14="http://schemas.microsoft.com/office/powerpoint/2010/main" val="821254125"/>
              </p:ext>
            </p:extLst>
          </p:nvPr>
        </p:nvGraphicFramePr>
        <p:xfrm>
          <a:off x="869575" y="986118"/>
          <a:ext cx="11149736" cy="5108327"/>
        </p:xfrm>
        <a:graphic>
          <a:graphicData uri="http://schemas.openxmlformats.org/drawingml/2006/table">
            <a:tbl>
              <a:tblPr firstRow="1" bandRow="1">
                <a:tableStyleId>{5C22544A-7EE6-4342-B048-85BDC9FD1C3A}</a:tableStyleId>
              </a:tblPr>
              <a:tblGrid>
                <a:gridCol w="1909484">
                  <a:extLst>
                    <a:ext uri="{9D8B030D-6E8A-4147-A177-3AD203B41FA5}">
                      <a16:colId xmlns:a16="http://schemas.microsoft.com/office/drawing/2014/main" val="2505605984"/>
                    </a:ext>
                  </a:extLst>
                </a:gridCol>
                <a:gridCol w="9240252">
                  <a:extLst>
                    <a:ext uri="{9D8B030D-6E8A-4147-A177-3AD203B41FA5}">
                      <a16:colId xmlns:a16="http://schemas.microsoft.com/office/drawing/2014/main" val="334839899"/>
                    </a:ext>
                  </a:extLst>
                </a:gridCol>
              </a:tblGrid>
              <a:tr h="4470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dirty="0">
                          <a:solidFill>
                            <a:srgbClr val="000000"/>
                          </a:solidFill>
                          <a:effectLst/>
                          <a:latin typeface="Times New Roman" panose="02020603050405020304" pitchFamily="18" charset="0"/>
                          <a:cs typeface="Times New Roman" panose="02020603050405020304" pitchFamily="18" charset="0"/>
                        </a:rPr>
                        <a:t>Consultation des projets disponibles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970270623"/>
                  </a:ext>
                </a:extLst>
              </a:tr>
              <a:tr h="542871">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Résumé</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permet à l’utilisateur de visualiser la liste des projets qu’il gère ou auxquels il a accès.</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342733137"/>
                  </a:ext>
                </a:extLst>
              </a:tr>
              <a:tr h="4470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Acteur(s)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a:solidFill>
                            <a:srgbClr val="000000"/>
                          </a:solidFill>
                          <a:effectLst/>
                          <a:latin typeface="Times New Roman" panose="02020603050405020304" pitchFamily="18" charset="0"/>
                          <a:cs typeface="Times New Roman" panose="02020603050405020304" pitchFamily="18" charset="0"/>
                        </a:rPr>
                        <a:t>Utilisateur</a:t>
                      </a:r>
                      <a:endParaRPr lang="fr-CM"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45898043"/>
                  </a:ext>
                </a:extLst>
              </a:tr>
              <a:tr h="542871">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Description</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Une fois connecté, l’utilisateur peut accéder à la liste de tous les projets auxquels il est autorisé.</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448240377"/>
                  </a:ext>
                </a:extLst>
              </a:tr>
              <a:tr h="76708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Préconditions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doit être connecté.</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L’utilisateur doit avoir les droits requis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741118528"/>
                  </a:ext>
                </a:extLst>
              </a:tr>
              <a:tr h="4470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Postconditions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La liste des projets est affichée.</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258949526"/>
                  </a:ext>
                </a:extLst>
              </a:tr>
              <a:tr h="1147305">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nominal</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1. L’utilisateur clique sur “Projets”.</a:t>
                      </a:r>
                      <a:endParaRPr lang="fr-FR" sz="140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2. Le système interroge la base de données des projets (API Keystone).</a:t>
                      </a:r>
                      <a:endParaRPr lang="fr-FR" sz="140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3. Le système affiche la liste des projets avec leurs identifiants et statuts.</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559967700"/>
                  </a:ext>
                </a:extLst>
              </a:tr>
              <a:tr h="76708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alternatif</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2.a. Problème de communication avec Keystone: message d’erreur.</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3.a. Aucun projet disponible: message “Aucun projet trouvé”.</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579216854"/>
                  </a:ext>
                </a:extLst>
              </a:tr>
            </a:tbl>
          </a:graphicData>
        </a:graphic>
      </p:graphicFrame>
    </p:spTree>
    <p:extLst>
      <p:ext uri="{BB962C8B-B14F-4D97-AF65-F5344CB8AC3E}">
        <p14:creationId xmlns:p14="http://schemas.microsoft.com/office/powerpoint/2010/main" val="4001167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427DF3-B786-438F-9D47-C9AFD9D7D5DE}"/>
              </a:ext>
            </a:extLst>
          </p:cNvPr>
          <p:cNvSpPr>
            <a:spLocks noGrp="1"/>
          </p:cNvSpPr>
          <p:nvPr>
            <p:ph type="title"/>
          </p:nvPr>
        </p:nvSpPr>
        <p:spPr>
          <a:xfrm>
            <a:off x="831622" y="152400"/>
            <a:ext cx="11119745" cy="837901"/>
          </a:xfrm>
        </p:spPr>
        <p:txBody>
          <a:bodyPr>
            <a:normAutofit/>
          </a:bodyPr>
          <a:lstStyle/>
          <a:p>
            <a:pPr algn="ctr"/>
            <a:r>
              <a:rPr lang="fr-FR" sz="1600" b="1" dirty="0">
                <a:latin typeface="Times New Roman" panose="02020603050405020304" pitchFamily="18" charset="0"/>
                <a:cs typeface="Times New Roman" panose="02020603050405020304" pitchFamily="18" charset="0"/>
              </a:rPr>
              <a:t>Cas d’utilisation 3 : Afficher les détails d’un projet</a:t>
            </a:r>
            <a:endParaRPr lang="fr-CM" sz="1600" b="1" dirty="0">
              <a:latin typeface="Times New Roman" panose="02020603050405020304" pitchFamily="18" charset="0"/>
              <a:cs typeface="Times New Roman" panose="02020603050405020304" pitchFamily="18" charset="0"/>
            </a:endParaRPr>
          </a:p>
        </p:txBody>
      </p:sp>
      <p:graphicFrame>
        <p:nvGraphicFramePr>
          <p:cNvPr id="4" name="Tableau 4">
            <a:extLst>
              <a:ext uri="{FF2B5EF4-FFF2-40B4-BE49-F238E27FC236}">
                <a16:creationId xmlns:a16="http://schemas.microsoft.com/office/drawing/2014/main" id="{E2EF321A-8F95-4502-BAB0-133EF6EF8E06}"/>
              </a:ext>
            </a:extLst>
          </p:cNvPr>
          <p:cNvGraphicFramePr>
            <a:graphicFrameLocks noGrp="1"/>
          </p:cNvGraphicFramePr>
          <p:nvPr>
            <p:ph idx="1"/>
            <p:extLst>
              <p:ext uri="{D42A27DB-BD31-4B8C-83A1-F6EECF244321}">
                <p14:modId xmlns:p14="http://schemas.microsoft.com/office/powerpoint/2010/main" val="652210487"/>
              </p:ext>
            </p:extLst>
          </p:nvPr>
        </p:nvGraphicFramePr>
        <p:xfrm>
          <a:off x="903339" y="990301"/>
          <a:ext cx="11119745" cy="5176520"/>
        </p:xfrm>
        <a:graphic>
          <a:graphicData uri="http://schemas.openxmlformats.org/drawingml/2006/table">
            <a:tbl>
              <a:tblPr firstRow="1" bandRow="1">
                <a:tableStyleId>{5C22544A-7EE6-4342-B048-85BDC9FD1C3A}</a:tableStyleId>
              </a:tblPr>
              <a:tblGrid>
                <a:gridCol w="1812966">
                  <a:extLst>
                    <a:ext uri="{9D8B030D-6E8A-4147-A177-3AD203B41FA5}">
                      <a16:colId xmlns:a16="http://schemas.microsoft.com/office/drawing/2014/main" val="3158998056"/>
                    </a:ext>
                  </a:extLst>
                </a:gridCol>
                <a:gridCol w="9306779">
                  <a:extLst>
                    <a:ext uri="{9D8B030D-6E8A-4147-A177-3AD203B41FA5}">
                      <a16:colId xmlns:a16="http://schemas.microsoft.com/office/drawing/2014/main" val="2400811636"/>
                    </a:ext>
                  </a:extLst>
                </a:gridCol>
              </a:tblGrid>
              <a:tr h="182506">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Visualisation des détails d’un projet</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435156256"/>
                  </a:ext>
                </a:extLst>
              </a:tr>
              <a:tr h="317974">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Résumé</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Permet à l’utilisateur de consulter les informations détaillées d’un projet (utilisateurs, ressources associées, métriques globales).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506138098"/>
                  </a:ext>
                </a:extLst>
              </a:tr>
              <a:tr h="182506">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Acteur(s)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dirty="0">
                          <a:solidFill>
                            <a:srgbClr val="000000"/>
                          </a:solidFill>
                          <a:effectLst/>
                          <a:latin typeface="Times New Roman" panose="02020603050405020304" pitchFamily="18" charset="0"/>
                          <a:cs typeface="Times New Roman" panose="02020603050405020304" pitchFamily="18" charset="0"/>
                        </a:rPr>
                        <a:t>Utilisateur</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942314092"/>
                  </a:ext>
                </a:extLst>
              </a:tr>
              <a:tr h="317974">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Description</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L’utilisateur sélectionne un projet depuis la liste. Le système affiche ses informations générales et les ressources (machines virtuelles, volumes, réseaux).</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717238674"/>
                  </a:ext>
                </a:extLst>
              </a:tr>
              <a:tr h="453441">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Préconditions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doit être connecté.</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L’utilisateur doit avoir les droits requis</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Le projet doit exister.</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264315689"/>
                  </a:ext>
                </a:extLst>
              </a:tr>
              <a:tr h="182506">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Postconditions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Les détails du projet sont affichés.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17457699"/>
                  </a:ext>
                </a:extLst>
              </a:tr>
              <a:tr h="453441">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sélectionne un projet.</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Le système récupère les informations du projet depuis Ceilometer.</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Le système affiche le nom, la description, les ressources et leurs statuts.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948876914"/>
                  </a:ext>
                </a:extLst>
              </a:tr>
              <a:tr h="182506">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alternatif</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2.a. Problème de communication avec Keystone: message d’erreur.</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198217893"/>
                  </a:ext>
                </a:extLst>
              </a:tr>
            </a:tbl>
          </a:graphicData>
        </a:graphic>
      </p:graphicFrame>
    </p:spTree>
    <p:extLst>
      <p:ext uri="{BB962C8B-B14F-4D97-AF65-F5344CB8AC3E}">
        <p14:creationId xmlns:p14="http://schemas.microsoft.com/office/powerpoint/2010/main" val="336135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36390E-F8FF-40E9-A3C7-B971C6D19809}"/>
              </a:ext>
            </a:extLst>
          </p:cNvPr>
          <p:cNvSpPr>
            <a:spLocks noGrp="1"/>
          </p:cNvSpPr>
          <p:nvPr>
            <p:ph type="title"/>
          </p:nvPr>
        </p:nvSpPr>
        <p:spPr>
          <a:xfrm>
            <a:off x="905435" y="91282"/>
            <a:ext cx="11054426" cy="833294"/>
          </a:xfrm>
        </p:spPr>
        <p:txBody>
          <a:bodyPr>
            <a:normAutofit/>
          </a:bodyPr>
          <a:lstStyle/>
          <a:p>
            <a:pPr algn="ctr"/>
            <a:r>
              <a:rPr lang="fr-FR" sz="1600" b="1" i="0" u="none" strike="noStrike" dirty="0">
                <a:solidFill>
                  <a:srgbClr val="000000"/>
                </a:solidFill>
                <a:effectLst/>
                <a:latin typeface="Times New Roman" panose="02020603050405020304" pitchFamily="18" charset="0"/>
                <a:cs typeface="Times New Roman" panose="02020603050405020304" pitchFamily="18" charset="0"/>
              </a:rPr>
              <a:t>Cas d’utilisation 4 : Afficher les métriques d’une ressource</a:t>
            </a:r>
            <a:endParaRPr lang="fr-CM" sz="1600" dirty="0">
              <a:latin typeface="Times New Roman" panose="02020603050405020304" pitchFamily="18" charset="0"/>
              <a:cs typeface="Times New Roman" panose="02020603050405020304" pitchFamily="18" charset="0"/>
            </a:endParaRPr>
          </a:p>
        </p:txBody>
      </p:sp>
      <p:graphicFrame>
        <p:nvGraphicFramePr>
          <p:cNvPr id="4" name="Tableau 4">
            <a:extLst>
              <a:ext uri="{FF2B5EF4-FFF2-40B4-BE49-F238E27FC236}">
                <a16:creationId xmlns:a16="http://schemas.microsoft.com/office/drawing/2014/main" id="{C6269C55-7D48-4886-9C6A-26A90F0E4C0D}"/>
              </a:ext>
            </a:extLst>
          </p:cNvPr>
          <p:cNvGraphicFramePr>
            <a:graphicFrameLocks noGrp="1"/>
          </p:cNvGraphicFramePr>
          <p:nvPr>
            <p:ph idx="1"/>
            <p:extLst>
              <p:ext uri="{D42A27DB-BD31-4B8C-83A1-F6EECF244321}">
                <p14:modId xmlns:p14="http://schemas.microsoft.com/office/powerpoint/2010/main" val="895088131"/>
              </p:ext>
            </p:extLst>
          </p:nvPr>
        </p:nvGraphicFramePr>
        <p:xfrm>
          <a:off x="905435" y="924576"/>
          <a:ext cx="11054426" cy="5272116"/>
        </p:xfrm>
        <a:graphic>
          <a:graphicData uri="http://schemas.openxmlformats.org/drawingml/2006/table">
            <a:tbl>
              <a:tblPr firstRow="1" bandRow="1">
                <a:tableStyleId>{5C22544A-7EE6-4342-B048-85BDC9FD1C3A}</a:tableStyleId>
              </a:tblPr>
              <a:tblGrid>
                <a:gridCol w="1766047">
                  <a:extLst>
                    <a:ext uri="{9D8B030D-6E8A-4147-A177-3AD203B41FA5}">
                      <a16:colId xmlns:a16="http://schemas.microsoft.com/office/drawing/2014/main" val="198019534"/>
                    </a:ext>
                  </a:extLst>
                </a:gridCol>
                <a:gridCol w="9288379">
                  <a:extLst>
                    <a:ext uri="{9D8B030D-6E8A-4147-A177-3AD203B41FA5}">
                      <a16:colId xmlns:a16="http://schemas.microsoft.com/office/drawing/2014/main" val="3610737933"/>
                    </a:ext>
                  </a:extLst>
                </a:gridCol>
              </a:tblGrid>
              <a:tr h="473168">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Consultation des métriques d’une ressource</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604192562"/>
                  </a:ext>
                </a:extLst>
              </a:tr>
              <a:tr h="385254">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Résumé</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Permet d’afficher les métriques (CPU, RAM, disque, réseau) d’une ressource donnée.</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350867387"/>
                  </a:ext>
                </a:extLst>
              </a:tr>
              <a:tr h="415517">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Acteur(s)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dirty="0">
                          <a:solidFill>
                            <a:srgbClr val="000000"/>
                          </a:solidFill>
                          <a:effectLst/>
                          <a:latin typeface="Times New Roman" panose="02020603050405020304" pitchFamily="18" charset="0"/>
                          <a:cs typeface="Times New Roman" panose="02020603050405020304" pitchFamily="18" charset="0"/>
                        </a:rPr>
                        <a:t>Utilisateur</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387718418"/>
                  </a:ext>
                </a:extLst>
              </a:tr>
              <a:tr h="62873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Description</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L’utilisateur choisit une ressource dans un projet. Le système interroge Gnocchi pour obtenir les séries temporelles.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205214200"/>
                  </a:ext>
                </a:extLst>
              </a:tr>
              <a:tr h="862073">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Préconditions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doit être connecté.</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L’utilisateur doit avoir les droits requis</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La ressource doit exister et être instrumentée par Ceilometer.</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111788928"/>
                  </a:ext>
                </a:extLst>
              </a:tr>
              <a:tr h="473168">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Postconditions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Les métriques de la ressource sont affichées.</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826674270"/>
                  </a:ext>
                </a:extLst>
              </a:tr>
              <a:tr h="862073">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nominal</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sélectionne une ressource.</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Le système interroge Gnocchi pour récupérer les métriques.</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Les données sont affichées.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812757294"/>
                  </a:ext>
                </a:extLst>
              </a:tr>
              <a:tr h="62873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Scénario alternatif</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3.a. Aucune donnée disponible: message “Pas de métriques collectées pour cette ressource”.</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996458110"/>
                  </a:ext>
                </a:extLst>
              </a:tr>
            </a:tbl>
          </a:graphicData>
        </a:graphic>
      </p:graphicFrame>
    </p:spTree>
    <p:extLst>
      <p:ext uri="{BB962C8B-B14F-4D97-AF65-F5344CB8AC3E}">
        <p14:creationId xmlns:p14="http://schemas.microsoft.com/office/powerpoint/2010/main" val="500937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BE0E3F-57C6-49D2-A5B6-05077B1B7578}"/>
              </a:ext>
            </a:extLst>
          </p:cNvPr>
          <p:cNvSpPr>
            <a:spLocks noGrp="1"/>
          </p:cNvSpPr>
          <p:nvPr>
            <p:ph type="title"/>
          </p:nvPr>
        </p:nvSpPr>
        <p:spPr>
          <a:xfrm>
            <a:off x="929763" y="118868"/>
            <a:ext cx="10700764" cy="812046"/>
          </a:xfrm>
        </p:spPr>
        <p:txBody>
          <a:bodyPr>
            <a:normAutofit/>
          </a:bodyPr>
          <a:lstStyle/>
          <a:p>
            <a:pPr algn="ctr"/>
            <a:r>
              <a:rPr lang="fr-FR" sz="1600" b="1" dirty="0">
                <a:latin typeface="Times New Roman" panose="02020603050405020304" pitchFamily="18" charset="0"/>
                <a:cs typeface="Times New Roman" panose="02020603050405020304" pitchFamily="18" charset="0"/>
              </a:rPr>
              <a:t> Cas d’utilisation 5 : Afficher les métriques d’un projet</a:t>
            </a:r>
            <a:endParaRPr lang="fr-CM" sz="1600" b="1" dirty="0">
              <a:latin typeface="Times New Roman" panose="02020603050405020304" pitchFamily="18" charset="0"/>
              <a:cs typeface="Times New Roman" panose="02020603050405020304" pitchFamily="18" charset="0"/>
            </a:endParaRPr>
          </a:p>
        </p:txBody>
      </p:sp>
      <p:graphicFrame>
        <p:nvGraphicFramePr>
          <p:cNvPr id="4" name="Tableau 4">
            <a:extLst>
              <a:ext uri="{FF2B5EF4-FFF2-40B4-BE49-F238E27FC236}">
                <a16:creationId xmlns:a16="http://schemas.microsoft.com/office/drawing/2014/main" id="{68D86F22-48F1-4055-9A09-C00D23A9174A}"/>
              </a:ext>
            </a:extLst>
          </p:cNvPr>
          <p:cNvGraphicFramePr>
            <a:graphicFrameLocks noGrp="1"/>
          </p:cNvGraphicFramePr>
          <p:nvPr>
            <p:ph idx="1"/>
            <p:extLst>
              <p:ext uri="{D42A27DB-BD31-4B8C-83A1-F6EECF244321}">
                <p14:modId xmlns:p14="http://schemas.microsoft.com/office/powerpoint/2010/main" val="2670039206"/>
              </p:ext>
            </p:extLst>
          </p:nvPr>
        </p:nvGraphicFramePr>
        <p:xfrm>
          <a:off x="929762" y="930914"/>
          <a:ext cx="10921579" cy="5052468"/>
        </p:xfrm>
        <a:graphic>
          <a:graphicData uri="http://schemas.openxmlformats.org/drawingml/2006/table">
            <a:tbl>
              <a:tblPr firstRow="1" bandRow="1">
                <a:tableStyleId>{5C22544A-7EE6-4342-B048-85BDC9FD1C3A}</a:tableStyleId>
              </a:tblPr>
              <a:tblGrid>
                <a:gridCol w="1741063">
                  <a:extLst>
                    <a:ext uri="{9D8B030D-6E8A-4147-A177-3AD203B41FA5}">
                      <a16:colId xmlns:a16="http://schemas.microsoft.com/office/drawing/2014/main" val="2439362065"/>
                    </a:ext>
                  </a:extLst>
                </a:gridCol>
                <a:gridCol w="9180516">
                  <a:extLst>
                    <a:ext uri="{9D8B030D-6E8A-4147-A177-3AD203B41FA5}">
                      <a16:colId xmlns:a16="http://schemas.microsoft.com/office/drawing/2014/main" val="532522919"/>
                    </a:ext>
                  </a:extLst>
                </a:gridCol>
              </a:tblGrid>
              <a:tr h="41018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Consultation globale des métriques d’un projet</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027928929"/>
                  </a:ext>
                </a:extLst>
              </a:tr>
              <a:tr h="545034">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Résumé</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Permet de visualiser les métriques agrégées d’un projet (utilisation CPU moyenne, consommation RAM totale, etc.).</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227325137"/>
                  </a:ext>
                </a:extLst>
              </a:tr>
              <a:tr h="384014">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Acteur(s)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dirty="0">
                          <a:solidFill>
                            <a:srgbClr val="000000"/>
                          </a:solidFill>
                          <a:effectLst/>
                          <a:latin typeface="Times New Roman" panose="02020603050405020304" pitchFamily="18" charset="0"/>
                          <a:cs typeface="Times New Roman" panose="02020603050405020304" pitchFamily="18" charset="0"/>
                        </a:rPr>
                        <a:t>Utilisateur</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265817856"/>
                  </a:ext>
                </a:extLst>
              </a:tr>
              <a:tr h="545034">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Description</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Le système agrège les métriques de toutes les ressources du projet et les présente de façon consolidée.</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167949752"/>
                  </a:ext>
                </a:extLst>
              </a:tr>
              <a:tr h="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Préconditions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marL="0" indent="0" rtl="0" fontAlgn="t">
                        <a:lnSpc>
                          <a:spcPct val="150000"/>
                        </a:lnSpc>
                        <a:spcBef>
                          <a:spcPts val="0"/>
                        </a:spcBef>
                        <a:spcAft>
                          <a:spcPts val="0"/>
                        </a:spcAft>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doit être connecté.</a:t>
                      </a:r>
                    </a:p>
                    <a:p>
                      <a:pPr marL="0" marR="0" lvl="0" indent="0" algn="l" defTabSz="914400" rtl="0" eaLnBrk="1" fontAlgn="t" latinLnBrk="0" hangingPunct="1">
                        <a:lnSpc>
                          <a:spcPct val="150000"/>
                        </a:lnSpc>
                        <a:spcBef>
                          <a:spcPts val="0"/>
                        </a:spcBef>
                        <a:spcAft>
                          <a:spcPts val="0"/>
                        </a:spcAft>
                        <a:buClrTx/>
                        <a:buSzTx/>
                        <a:buFontTx/>
                        <a:buNone/>
                        <a:tabLst/>
                        <a:defRPr/>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L’utilisateur doit avoir les droits requis</a:t>
                      </a:r>
                    </a:p>
                    <a:p>
                      <a:pPr marL="0" indent="0" rtl="0" fontAlgn="t">
                        <a:lnSpc>
                          <a:spcPct val="150000"/>
                        </a:lnSpc>
                        <a:spcBef>
                          <a:spcPts val="0"/>
                        </a:spcBef>
                        <a:spcAft>
                          <a:spcPts val="0"/>
                        </a:spcAft>
                        <a:buNone/>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Le projet doit avoir des ressources instrumentées.</a:t>
                      </a:r>
                    </a:p>
                  </a:txBody>
                  <a:tcPr marL="63500" marR="63500" marT="63500" marB="63500"/>
                </a:tc>
                <a:extLst>
                  <a:ext uri="{0D108BD9-81ED-4DB2-BD59-A6C34878D82A}">
                    <a16:rowId xmlns:a16="http://schemas.microsoft.com/office/drawing/2014/main" val="4003264911"/>
                  </a:ext>
                </a:extLst>
              </a:tr>
              <a:tr h="41018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Postconditions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Les métriques globales du projet sont affichées.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897132098"/>
                  </a:ext>
                </a:extLst>
              </a:tr>
              <a:tr h="747313">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nominal</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sélectionne un projet.</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Le système interroge Gnocchi pour agréger les métriques.</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Les résultats sont affichés sous forme synthétiques.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630588457"/>
                  </a:ext>
                </a:extLst>
              </a:tr>
              <a:tr h="348066">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Scénario alternatif</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3.a Problème de communication avec Gnocchi: affichage d’un message d’erreur.</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942287279"/>
                  </a:ext>
                </a:extLst>
              </a:tr>
            </a:tbl>
          </a:graphicData>
        </a:graphic>
      </p:graphicFrame>
    </p:spTree>
    <p:extLst>
      <p:ext uri="{BB962C8B-B14F-4D97-AF65-F5344CB8AC3E}">
        <p14:creationId xmlns:p14="http://schemas.microsoft.com/office/powerpoint/2010/main" val="1891433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5E92F2-322D-40AC-B16D-97F889C617CF}"/>
              </a:ext>
            </a:extLst>
          </p:cNvPr>
          <p:cNvSpPr>
            <a:spLocks noGrp="1"/>
          </p:cNvSpPr>
          <p:nvPr>
            <p:ph type="title"/>
          </p:nvPr>
        </p:nvSpPr>
        <p:spPr>
          <a:xfrm>
            <a:off x="898622" y="172840"/>
            <a:ext cx="10847030" cy="752617"/>
          </a:xfrm>
        </p:spPr>
        <p:txBody>
          <a:bodyPr>
            <a:normAutofit/>
          </a:bodyPr>
          <a:lstStyle/>
          <a:p>
            <a:pPr algn="ctr"/>
            <a:r>
              <a:rPr lang="fr-FR" sz="1600" b="1" i="0" u="none" strike="noStrike" dirty="0">
                <a:solidFill>
                  <a:srgbClr val="000000"/>
                </a:solidFill>
                <a:effectLst/>
                <a:latin typeface="Times New Roman" panose="02020603050405020304" pitchFamily="18" charset="0"/>
                <a:cs typeface="Times New Roman" panose="02020603050405020304" pitchFamily="18" charset="0"/>
              </a:rPr>
              <a:t>Cas d’utilisation 6 : Afficher l’historique des événements</a:t>
            </a:r>
            <a:endParaRPr lang="fr-CM" sz="1600" dirty="0">
              <a:latin typeface="Times New Roman" panose="02020603050405020304" pitchFamily="18" charset="0"/>
              <a:cs typeface="Times New Roman" panose="02020603050405020304" pitchFamily="18" charset="0"/>
            </a:endParaRPr>
          </a:p>
        </p:txBody>
      </p:sp>
      <p:graphicFrame>
        <p:nvGraphicFramePr>
          <p:cNvPr id="4" name="Tableau 4">
            <a:extLst>
              <a:ext uri="{FF2B5EF4-FFF2-40B4-BE49-F238E27FC236}">
                <a16:creationId xmlns:a16="http://schemas.microsoft.com/office/drawing/2014/main" id="{6400C9D6-63F8-4C5F-86D4-898984C232CC}"/>
              </a:ext>
            </a:extLst>
          </p:cNvPr>
          <p:cNvGraphicFramePr>
            <a:graphicFrameLocks noGrp="1"/>
          </p:cNvGraphicFramePr>
          <p:nvPr>
            <p:ph idx="1"/>
            <p:extLst>
              <p:ext uri="{D42A27DB-BD31-4B8C-83A1-F6EECF244321}">
                <p14:modId xmlns:p14="http://schemas.microsoft.com/office/powerpoint/2010/main" val="1338450182"/>
              </p:ext>
            </p:extLst>
          </p:nvPr>
        </p:nvGraphicFramePr>
        <p:xfrm>
          <a:off x="898621" y="925457"/>
          <a:ext cx="10952719" cy="4536440"/>
        </p:xfrm>
        <a:graphic>
          <a:graphicData uri="http://schemas.openxmlformats.org/drawingml/2006/table">
            <a:tbl>
              <a:tblPr firstRow="1" bandRow="1">
                <a:tableStyleId>{5C22544A-7EE6-4342-B048-85BDC9FD1C3A}</a:tableStyleId>
              </a:tblPr>
              <a:tblGrid>
                <a:gridCol w="1645301">
                  <a:extLst>
                    <a:ext uri="{9D8B030D-6E8A-4147-A177-3AD203B41FA5}">
                      <a16:colId xmlns:a16="http://schemas.microsoft.com/office/drawing/2014/main" val="2755903048"/>
                    </a:ext>
                  </a:extLst>
                </a:gridCol>
                <a:gridCol w="9307418">
                  <a:extLst>
                    <a:ext uri="{9D8B030D-6E8A-4147-A177-3AD203B41FA5}">
                      <a16:colId xmlns:a16="http://schemas.microsoft.com/office/drawing/2014/main" val="1323733251"/>
                    </a:ext>
                  </a:extLst>
                </a:gridCol>
              </a:tblGrid>
              <a:tr h="326017">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dirty="0">
                          <a:solidFill>
                            <a:srgbClr val="000000"/>
                          </a:solidFill>
                          <a:effectLst/>
                          <a:latin typeface="Times New Roman" panose="02020603050405020304" pitchFamily="18" charset="0"/>
                          <a:cs typeface="Times New Roman" panose="02020603050405020304" pitchFamily="18" charset="0"/>
                        </a:rPr>
                        <a:t>Visualisation des événements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568167097"/>
                  </a:ext>
                </a:extLst>
              </a:tr>
              <a:tr h="3708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Résumé</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Permet d’afficher la chronologie des événements liés à un projet ou à une ressource.</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640456483"/>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Acteur(s)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a:solidFill>
                            <a:srgbClr val="000000"/>
                          </a:solidFill>
                          <a:effectLst/>
                          <a:latin typeface="Times New Roman" panose="02020603050405020304" pitchFamily="18" charset="0"/>
                          <a:cs typeface="Times New Roman" panose="02020603050405020304" pitchFamily="18" charset="0"/>
                        </a:rPr>
                        <a:t>Utilisateur</a:t>
                      </a:r>
                      <a:endParaRPr lang="fr-CM"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864374569"/>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Description</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L’utilisateur peut consulter la liste des événements capturés par Ceilometer (création, suppression, alerte déclenchée, etc.).</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558946028"/>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Préconditions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doit être connecté.</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Le système doit avoir collecté des événements.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873373338"/>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Postconditions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L’historique des événements est affiché.</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488747099"/>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nominal</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choisit un projet ou une ressource.</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Le système récupère les événements correspondants.</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Les événements sont affichés avec date, type et description.</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991700576"/>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alternatif</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3.a. Problème de communication avec Gnocchi: affichage d’un message d’erreur.</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738085026"/>
                  </a:ext>
                </a:extLst>
              </a:tr>
            </a:tbl>
          </a:graphicData>
        </a:graphic>
      </p:graphicFrame>
    </p:spTree>
    <p:extLst>
      <p:ext uri="{BB962C8B-B14F-4D97-AF65-F5344CB8AC3E}">
        <p14:creationId xmlns:p14="http://schemas.microsoft.com/office/powerpoint/2010/main" val="3321305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318326-372E-4E52-9193-5EDD4D25B93D}"/>
              </a:ext>
            </a:extLst>
          </p:cNvPr>
          <p:cNvSpPr>
            <a:spLocks noGrp="1"/>
          </p:cNvSpPr>
          <p:nvPr>
            <p:ph type="title"/>
          </p:nvPr>
        </p:nvSpPr>
        <p:spPr>
          <a:xfrm>
            <a:off x="887505" y="82249"/>
            <a:ext cx="10881702" cy="886537"/>
          </a:xfrm>
        </p:spPr>
        <p:txBody>
          <a:bodyPr>
            <a:normAutofit/>
          </a:bodyPr>
          <a:lstStyle/>
          <a:p>
            <a:pPr algn="ctr"/>
            <a:r>
              <a:rPr lang="fr-FR" sz="1600" b="1" i="0" u="none" strike="noStrike" dirty="0">
                <a:solidFill>
                  <a:srgbClr val="000000"/>
                </a:solidFill>
                <a:effectLst/>
                <a:latin typeface="Times New Roman" panose="02020603050405020304" pitchFamily="18" charset="0"/>
                <a:cs typeface="Times New Roman" panose="02020603050405020304" pitchFamily="18" charset="0"/>
              </a:rPr>
              <a:t> Cas d’utilisation 7 : Définir des seuils d’alerte</a:t>
            </a:r>
            <a:endParaRPr lang="fr-CM" sz="1600" dirty="0">
              <a:latin typeface="Times New Roman" panose="02020603050405020304" pitchFamily="18" charset="0"/>
              <a:cs typeface="Times New Roman" panose="02020603050405020304" pitchFamily="18" charset="0"/>
            </a:endParaRPr>
          </a:p>
        </p:txBody>
      </p:sp>
      <p:graphicFrame>
        <p:nvGraphicFramePr>
          <p:cNvPr id="4" name="Tableau 4">
            <a:extLst>
              <a:ext uri="{FF2B5EF4-FFF2-40B4-BE49-F238E27FC236}">
                <a16:creationId xmlns:a16="http://schemas.microsoft.com/office/drawing/2014/main" id="{5F2DED42-1EC9-4490-B603-DF589D3980F4}"/>
              </a:ext>
            </a:extLst>
          </p:cNvPr>
          <p:cNvGraphicFramePr>
            <a:graphicFrameLocks noGrp="1"/>
          </p:cNvGraphicFramePr>
          <p:nvPr>
            <p:ph idx="1"/>
            <p:extLst>
              <p:ext uri="{D42A27DB-BD31-4B8C-83A1-F6EECF244321}">
                <p14:modId xmlns:p14="http://schemas.microsoft.com/office/powerpoint/2010/main" val="643785073"/>
              </p:ext>
            </p:extLst>
          </p:nvPr>
        </p:nvGraphicFramePr>
        <p:xfrm>
          <a:off x="887505" y="968786"/>
          <a:ext cx="10881702" cy="5176520"/>
        </p:xfrm>
        <a:graphic>
          <a:graphicData uri="http://schemas.openxmlformats.org/drawingml/2006/table">
            <a:tbl>
              <a:tblPr firstRow="1" bandRow="1">
                <a:tableStyleId>{5C22544A-7EE6-4342-B048-85BDC9FD1C3A}</a:tableStyleId>
              </a:tblPr>
              <a:tblGrid>
                <a:gridCol w="1631577">
                  <a:extLst>
                    <a:ext uri="{9D8B030D-6E8A-4147-A177-3AD203B41FA5}">
                      <a16:colId xmlns:a16="http://schemas.microsoft.com/office/drawing/2014/main" val="3929248799"/>
                    </a:ext>
                  </a:extLst>
                </a:gridCol>
                <a:gridCol w="9250125">
                  <a:extLst>
                    <a:ext uri="{9D8B030D-6E8A-4147-A177-3AD203B41FA5}">
                      <a16:colId xmlns:a16="http://schemas.microsoft.com/office/drawing/2014/main" val="3722659043"/>
                    </a:ext>
                  </a:extLst>
                </a:gridCol>
              </a:tblGrid>
              <a:tr h="3708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dirty="0">
                          <a:solidFill>
                            <a:srgbClr val="000000"/>
                          </a:solidFill>
                          <a:effectLst/>
                          <a:latin typeface="Times New Roman" panose="02020603050405020304" pitchFamily="18" charset="0"/>
                          <a:cs typeface="Times New Roman" panose="02020603050405020304" pitchFamily="18" charset="0"/>
                        </a:rPr>
                        <a:t>Configuration d’alertes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4326815"/>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Résumé</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Permet à l’utilisateur de définir des seuils sur certaines métriques (ex : CPU &gt; 80%) pour être notifié en cas de dépassement.</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66685773"/>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Acteur(s)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a:solidFill>
                            <a:srgbClr val="000000"/>
                          </a:solidFill>
                          <a:effectLst/>
                          <a:latin typeface="Times New Roman" panose="02020603050405020304" pitchFamily="18" charset="0"/>
                          <a:cs typeface="Times New Roman" panose="02020603050405020304" pitchFamily="18" charset="0"/>
                        </a:rPr>
                        <a:t>Utilisateur, Service d’alerte (Aodh)</a:t>
                      </a:r>
                      <a:endParaRPr lang="fr-CM"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220856187"/>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Description</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L’utilisateur choisit une métrique, définit un seuil et un type d’alerte. Le système enregistre cette règle et la transmet à Aodh.</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702842972"/>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Préconditions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doit être connecté.</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Les métriques doivent être disponibles.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002550667"/>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Postconditions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Le seuil d’alerte est enregistré et activé.</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420014773"/>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nominal</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choisit une métrique.</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Il définit la condition de déclenchement.</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Le système enregistre la règle d’alerte.</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4. Aodh surveille la métrique et envoie une notification en cas de dépassement.</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164261617"/>
                  </a:ext>
                </a:extLst>
              </a:tr>
              <a:tr h="3708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Scénario alternatif</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2.a. Erreur lors de la création de la règle: message d’échec.</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2.b. Valeur de seuil invalide: avertissement et refus d’enregistrement.</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703284349"/>
                  </a:ext>
                </a:extLst>
              </a:tr>
            </a:tbl>
          </a:graphicData>
        </a:graphic>
      </p:graphicFrame>
    </p:spTree>
    <p:extLst>
      <p:ext uri="{BB962C8B-B14F-4D97-AF65-F5344CB8AC3E}">
        <p14:creationId xmlns:p14="http://schemas.microsoft.com/office/powerpoint/2010/main" val="1203045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318326-372E-4E52-9193-5EDD4D25B93D}"/>
              </a:ext>
            </a:extLst>
          </p:cNvPr>
          <p:cNvSpPr>
            <a:spLocks noGrp="1"/>
          </p:cNvSpPr>
          <p:nvPr>
            <p:ph type="title"/>
          </p:nvPr>
        </p:nvSpPr>
        <p:spPr>
          <a:xfrm>
            <a:off x="887505" y="82249"/>
            <a:ext cx="10881702" cy="886537"/>
          </a:xfrm>
        </p:spPr>
        <p:txBody>
          <a:bodyPr>
            <a:normAutofit/>
          </a:bodyPr>
          <a:lstStyle/>
          <a:p>
            <a:pPr algn="ctr"/>
            <a:r>
              <a:rPr lang="fr-FR" sz="1600" b="1" i="0" u="none" strike="noStrike" dirty="0">
                <a:solidFill>
                  <a:srgbClr val="000000"/>
                </a:solidFill>
                <a:effectLst/>
                <a:latin typeface="Times New Roman" panose="02020603050405020304" pitchFamily="18" charset="0"/>
                <a:cs typeface="Times New Roman" panose="02020603050405020304" pitchFamily="18" charset="0"/>
              </a:rPr>
              <a:t> Cas d’utilisation 8: Ajouter un plan tarifaire</a:t>
            </a:r>
            <a:endParaRPr lang="fr-CM" sz="1600" dirty="0">
              <a:latin typeface="Times New Roman" panose="02020603050405020304" pitchFamily="18" charset="0"/>
              <a:cs typeface="Times New Roman" panose="02020603050405020304" pitchFamily="18" charset="0"/>
            </a:endParaRPr>
          </a:p>
        </p:txBody>
      </p:sp>
      <p:graphicFrame>
        <p:nvGraphicFramePr>
          <p:cNvPr id="4" name="Tableau 4">
            <a:extLst>
              <a:ext uri="{FF2B5EF4-FFF2-40B4-BE49-F238E27FC236}">
                <a16:creationId xmlns:a16="http://schemas.microsoft.com/office/drawing/2014/main" id="{5F2DED42-1EC9-4490-B603-DF589D3980F4}"/>
              </a:ext>
            </a:extLst>
          </p:cNvPr>
          <p:cNvGraphicFramePr>
            <a:graphicFrameLocks noGrp="1"/>
          </p:cNvGraphicFramePr>
          <p:nvPr>
            <p:ph idx="1"/>
            <p:extLst>
              <p:ext uri="{D42A27DB-BD31-4B8C-83A1-F6EECF244321}">
                <p14:modId xmlns:p14="http://schemas.microsoft.com/office/powerpoint/2010/main" val="472747431"/>
              </p:ext>
            </p:extLst>
          </p:nvPr>
        </p:nvGraphicFramePr>
        <p:xfrm>
          <a:off x="887505" y="968786"/>
          <a:ext cx="10881702" cy="5816600"/>
        </p:xfrm>
        <a:graphic>
          <a:graphicData uri="http://schemas.openxmlformats.org/drawingml/2006/table">
            <a:tbl>
              <a:tblPr firstRow="1" bandRow="1">
                <a:tableStyleId>{5C22544A-7EE6-4342-B048-85BDC9FD1C3A}</a:tableStyleId>
              </a:tblPr>
              <a:tblGrid>
                <a:gridCol w="1631577">
                  <a:extLst>
                    <a:ext uri="{9D8B030D-6E8A-4147-A177-3AD203B41FA5}">
                      <a16:colId xmlns:a16="http://schemas.microsoft.com/office/drawing/2014/main" val="3929248799"/>
                    </a:ext>
                  </a:extLst>
                </a:gridCol>
                <a:gridCol w="9250125">
                  <a:extLst>
                    <a:ext uri="{9D8B030D-6E8A-4147-A177-3AD203B41FA5}">
                      <a16:colId xmlns:a16="http://schemas.microsoft.com/office/drawing/2014/main" val="3722659043"/>
                    </a:ext>
                  </a:extLst>
                </a:gridCol>
              </a:tblGrid>
              <a:tr h="3708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dirty="0">
                          <a:solidFill>
                            <a:srgbClr val="000000"/>
                          </a:solidFill>
                          <a:effectLst/>
                          <a:latin typeface="Times New Roman" panose="02020603050405020304" pitchFamily="18" charset="0"/>
                          <a:cs typeface="Times New Roman" panose="02020603050405020304" pitchFamily="18" charset="0"/>
                        </a:rPr>
                        <a:t>Création d’un plan tarifaire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4326815"/>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Résumé</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dirty="0"/>
                        <a:t>Permet à l’administrateur d’ajouter un nouveau plan tarifaire qui définit le coût des ressources (CPU, RAM, stockage, bande passante, etc.).</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66685773"/>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Acteur(s)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dirty="0"/>
                        <a:t>Administrateur</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220856187"/>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Description</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dirty="0"/>
                        <a:t>L’administrateur saisit les paramètres du plan (nom, unité de facturation, prix unitaire, etc.) via l’interface. Le système enregistre le plan dans la base de données de facturation.</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702842972"/>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Préconditions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dirty="0"/>
                        <a:t>L’administrateur doit être authentifié.</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002550667"/>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Postconditions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dirty="0"/>
                        <a:t>Un nouveau plan tarifaire est enregistré et disponible pour la facturation.</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420014773"/>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nominal</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a:t>
                      </a:r>
                      <a:r>
                        <a:rPr lang="fr-FR" sz="1400" dirty="0"/>
                        <a:t>L’administrateur ouvre la page “Plans tarifaires”.</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a:t>
                      </a:r>
                      <a:r>
                        <a:rPr lang="fr-FR" sz="1400" dirty="0"/>
                        <a:t>Il clique sur “Ajouter un plan”.</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a:t>
                      </a:r>
                      <a:r>
                        <a:rPr lang="fr-FR" sz="1400" dirty="0"/>
                        <a:t>Il remplit les champs requis (nom, type, unité, prix).</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4. </a:t>
                      </a:r>
                      <a:r>
                        <a:rPr lang="fr-FR" sz="1400" dirty="0"/>
                        <a:t>Le système enregistre le plan dans la base de données.</a:t>
                      </a:r>
                    </a:p>
                    <a:p>
                      <a:pPr rtl="0" fontAlgn="t">
                        <a:lnSpc>
                          <a:spcPct val="150000"/>
                        </a:lnSpc>
                        <a:spcBef>
                          <a:spcPts val="0"/>
                        </a:spcBef>
                        <a:spcAft>
                          <a:spcPts val="0"/>
                        </a:spcAft>
                      </a:pPr>
                      <a:r>
                        <a:rPr lang="fr-FR" sz="1400" dirty="0">
                          <a:effectLst/>
                          <a:latin typeface="Times New Roman" panose="02020603050405020304" pitchFamily="18" charset="0"/>
                          <a:cs typeface="Times New Roman" panose="02020603050405020304" pitchFamily="18" charset="0"/>
                        </a:rPr>
                        <a:t>5. </a:t>
                      </a:r>
                      <a:r>
                        <a:rPr lang="fr-FR" sz="1400" dirty="0"/>
                        <a:t>Le système confirme la création.</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164261617"/>
                  </a:ext>
                </a:extLst>
              </a:tr>
              <a:tr h="3708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Scénario alternatif</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3.a. </a:t>
                      </a:r>
                      <a:r>
                        <a:rPr lang="fr-FR" sz="1400" dirty="0"/>
                        <a:t>Certains champs manquent: message “Veuillez remplir tous les champs obligatoires”.</a:t>
                      </a: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4.a. </a:t>
                      </a:r>
                      <a:r>
                        <a:rPr lang="fr-FR" sz="1400" dirty="0"/>
                        <a:t>Erreur d’écriture dans la base → message “Impossible d’enregistrer le plan”.</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703284349"/>
                  </a:ext>
                </a:extLst>
              </a:tr>
            </a:tbl>
          </a:graphicData>
        </a:graphic>
      </p:graphicFrame>
    </p:spTree>
    <p:extLst>
      <p:ext uri="{BB962C8B-B14F-4D97-AF65-F5344CB8AC3E}">
        <p14:creationId xmlns:p14="http://schemas.microsoft.com/office/powerpoint/2010/main" val="1578226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318326-372E-4E52-9193-5EDD4D25B93D}"/>
              </a:ext>
            </a:extLst>
          </p:cNvPr>
          <p:cNvSpPr>
            <a:spLocks noGrp="1"/>
          </p:cNvSpPr>
          <p:nvPr>
            <p:ph type="title"/>
          </p:nvPr>
        </p:nvSpPr>
        <p:spPr>
          <a:xfrm>
            <a:off x="887505" y="82249"/>
            <a:ext cx="10881702" cy="886537"/>
          </a:xfrm>
        </p:spPr>
        <p:txBody>
          <a:bodyPr>
            <a:normAutofit/>
          </a:bodyPr>
          <a:lstStyle/>
          <a:p>
            <a:pPr algn="ctr"/>
            <a:r>
              <a:rPr lang="fr-FR" sz="1600" b="1" i="0" u="none" strike="noStrike" dirty="0">
                <a:solidFill>
                  <a:srgbClr val="000000"/>
                </a:solidFill>
                <a:effectLst/>
                <a:latin typeface="Times New Roman" panose="02020603050405020304" pitchFamily="18" charset="0"/>
                <a:cs typeface="Times New Roman" panose="02020603050405020304" pitchFamily="18" charset="0"/>
              </a:rPr>
              <a:t> Cas d’utilisation 9 </a:t>
            </a:r>
            <a:r>
              <a:rPr lang="fr-FR" sz="1600" b="1" i="0" u="none" strike="noStrike">
                <a:solidFill>
                  <a:srgbClr val="000000"/>
                </a:solidFill>
                <a:effectLst/>
                <a:latin typeface="Times New Roman" panose="02020603050405020304" pitchFamily="18" charset="0"/>
                <a:cs typeface="Times New Roman" panose="02020603050405020304" pitchFamily="18" charset="0"/>
              </a:rPr>
              <a:t>: SUPPRIMER </a:t>
            </a:r>
            <a:r>
              <a:rPr lang="fr-FR" sz="1600" b="1" i="0" u="none" strike="noStrike" dirty="0">
                <a:solidFill>
                  <a:srgbClr val="000000"/>
                </a:solidFill>
                <a:effectLst/>
                <a:latin typeface="Times New Roman" panose="02020603050405020304" pitchFamily="18" charset="0"/>
                <a:cs typeface="Times New Roman" panose="02020603050405020304" pitchFamily="18" charset="0"/>
              </a:rPr>
              <a:t>un plan tarifaire</a:t>
            </a:r>
            <a:endParaRPr lang="fr-CM" sz="1600" dirty="0">
              <a:latin typeface="Times New Roman" panose="02020603050405020304" pitchFamily="18" charset="0"/>
              <a:cs typeface="Times New Roman" panose="02020603050405020304" pitchFamily="18" charset="0"/>
            </a:endParaRPr>
          </a:p>
        </p:txBody>
      </p:sp>
      <p:graphicFrame>
        <p:nvGraphicFramePr>
          <p:cNvPr id="4" name="Tableau 4">
            <a:extLst>
              <a:ext uri="{FF2B5EF4-FFF2-40B4-BE49-F238E27FC236}">
                <a16:creationId xmlns:a16="http://schemas.microsoft.com/office/drawing/2014/main" id="{5F2DED42-1EC9-4490-B603-DF589D3980F4}"/>
              </a:ext>
            </a:extLst>
          </p:cNvPr>
          <p:cNvGraphicFramePr>
            <a:graphicFrameLocks noGrp="1"/>
          </p:cNvGraphicFramePr>
          <p:nvPr>
            <p:ph idx="1"/>
            <p:extLst>
              <p:ext uri="{D42A27DB-BD31-4B8C-83A1-F6EECF244321}">
                <p14:modId xmlns:p14="http://schemas.microsoft.com/office/powerpoint/2010/main" val="3680181389"/>
              </p:ext>
            </p:extLst>
          </p:nvPr>
        </p:nvGraphicFramePr>
        <p:xfrm>
          <a:off x="887505" y="852471"/>
          <a:ext cx="10881702" cy="5923280"/>
        </p:xfrm>
        <a:graphic>
          <a:graphicData uri="http://schemas.openxmlformats.org/drawingml/2006/table">
            <a:tbl>
              <a:tblPr firstRow="1" bandRow="1">
                <a:tableStyleId>{5C22544A-7EE6-4342-B048-85BDC9FD1C3A}</a:tableStyleId>
              </a:tblPr>
              <a:tblGrid>
                <a:gridCol w="1631577">
                  <a:extLst>
                    <a:ext uri="{9D8B030D-6E8A-4147-A177-3AD203B41FA5}">
                      <a16:colId xmlns:a16="http://schemas.microsoft.com/office/drawing/2014/main" val="3929248799"/>
                    </a:ext>
                  </a:extLst>
                </a:gridCol>
                <a:gridCol w="9250125">
                  <a:extLst>
                    <a:ext uri="{9D8B030D-6E8A-4147-A177-3AD203B41FA5}">
                      <a16:colId xmlns:a16="http://schemas.microsoft.com/office/drawing/2014/main" val="3722659043"/>
                    </a:ext>
                  </a:extLst>
                </a:gridCol>
              </a:tblGrid>
              <a:tr h="3708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dirty="0">
                          <a:solidFill>
                            <a:srgbClr val="000000"/>
                          </a:solidFill>
                          <a:effectLst/>
                          <a:latin typeface="Times New Roman" panose="02020603050405020304" pitchFamily="18" charset="0"/>
                          <a:cs typeface="Times New Roman" panose="02020603050405020304" pitchFamily="18" charset="0"/>
                        </a:rPr>
                        <a:t>Suppression un plan tarifaire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4326815"/>
                  </a:ext>
                </a:extLst>
              </a:tr>
              <a:tr h="3708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Résumé</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dirty="0"/>
                        <a:t>Permet à l’administrateur de supprimer un plan tarifaire devenu obsolète.</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66685773"/>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Acteur(s)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dirty="0"/>
                        <a:t>Administrateur</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220856187"/>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Description</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dirty="0"/>
                        <a:t>L’administrateur sélectionne un plan existant dans la liste et confirme sa suppression. Le système le retire de la base et met à jour les dépendances éventuelles.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702842972"/>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Préconditions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r>
                        <a:rPr lang="fr-FR" sz="1400" dirty="0"/>
                        <a:t>1. L’administrateur doit être authentifié.</a:t>
                      </a:r>
                    </a:p>
                    <a:p>
                      <a:r>
                        <a:rPr lang="fr-FR" sz="1400" dirty="0"/>
                        <a:t>2. Le plan doit exister.</a:t>
                      </a:r>
                    </a:p>
                  </a:txBody>
                  <a:tcPr marL="63500" marR="63500" marT="63500" marB="63500"/>
                </a:tc>
                <a:extLst>
                  <a:ext uri="{0D108BD9-81ED-4DB2-BD59-A6C34878D82A}">
                    <a16:rowId xmlns:a16="http://schemas.microsoft.com/office/drawing/2014/main" val="3002550667"/>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Postconditions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dirty="0"/>
                        <a:t>Le plan tarifaire est supprimé de la base.</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420014773"/>
                  </a:ext>
                </a:extLst>
              </a:tr>
              <a:tr h="370840">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nominal</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a:t>
                      </a:r>
                      <a:r>
                        <a:rPr lang="fr-FR" sz="1400" dirty="0"/>
                        <a:t>L’administrateur sélectionne un plan dans la liste.</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a:t>
                      </a:r>
                      <a:r>
                        <a:rPr lang="fr-CM" sz="1400" dirty="0"/>
                        <a:t>Il clique sur “Supprimer”.</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a:t>
                      </a:r>
                      <a:r>
                        <a:rPr lang="fr-CM" sz="1400" dirty="0"/>
                        <a:t>Le système demande confirmation.</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4. </a:t>
                      </a:r>
                      <a:r>
                        <a:rPr lang="fr-CM" sz="1400" dirty="0"/>
                        <a:t>L’administrateur confirme.</a:t>
                      </a:r>
                      <a:endParaRPr lang="fr-FR" sz="1400" dirty="0"/>
                    </a:p>
                    <a:p>
                      <a:pPr rtl="0" fontAlgn="t">
                        <a:lnSpc>
                          <a:spcPct val="150000"/>
                        </a:lnSpc>
                        <a:spcBef>
                          <a:spcPts val="0"/>
                        </a:spcBef>
                        <a:spcAft>
                          <a:spcPts val="0"/>
                        </a:spcAft>
                      </a:pPr>
                      <a:r>
                        <a:rPr lang="fr-FR" sz="1400" dirty="0">
                          <a:effectLst/>
                          <a:latin typeface="Times New Roman" panose="02020603050405020304" pitchFamily="18" charset="0"/>
                          <a:cs typeface="Times New Roman" panose="02020603050405020304" pitchFamily="18" charset="0"/>
                        </a:rPr>
                        <a:t>5. </a:t>
                      </a:r>
                      <a:r>
                        <a:rPr lang="fr-FR" sz="1400" dirty="0"/>
                        <a:t>Le système supprime le plan.</a:t>
                      </a:r>
                    </a:p>
                    <a:p>
                      <a:pPr rtl="0" fontAlgn="t">
                        <a:lnSpc>
                          <a:spcPct val="150000"/>
                        </a:lnSpc>
                        <a:spcBef>
                          <a:spcPts val="0"/>
                        </a:spcBef>
                        <a:spcAft>
                          <a:spcPts val="0"/>
                        </a:spcAft>
                      </a:pPr>
                      <a:r>
                        <a:rPr lang="fr-FR" sz="1400" dirty="0">
                          <a:effectLst/>
                          <a:latin typeface="Times New Roman" panose="02020603050405020304" pitchFamily="18" charset="0"/>
                          <a:cs typeface="Times New Roman" panose="02020603050405020304" pitchFamily="18" charset="0"/>
                        </a:rPr>
                        <a:t>6. Confirmation de suppression</a:t>
                      </a:r>
                    </a:p>
                  </a:txBody>
                  <a:tcPr marL="63500" marR="63500" marT="63500" marB="63500"/>
                </a:tc>
                <a:extLst>
                  <a:ext uri="{0D108BD9-81ED-4DB2-BD59-A6C34878D82A}">
                    <a16:rowId xmlns:a16="http://schemas.microsoft.com/office/drawing/2014/main" val="1164261617"/>
                  </a:ext>
                </a:extLst>
              </a:tr>
              <a:tr h="37084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Scénario alternatif</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3.a. </a:t>
                      </a:r>
                      <a:r>
                        <a:rPr lang="fr-CM" sz="1400" dirty="0"/>
                        <a:t>L’administrateur annule la suppression.</a:t>
                      </a:r>
                      <a:endParaRPr lang="fr-FR" sz="1400" dirty="0"/>
                    </a:p>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5a</a:t>
                      </a:r>
                      <a:r>
                        <a:rPr lang="fr-FR" sz="1400" b="0" i="0" u="none" strike="noStrike" dirty="0">
                          <a:solidFill>
                            <a:srgbClr val="000000"/>
                          </a:solidFill>
                          <a:effectLst/>
                          <a:latin typeface="Times New Roman" panose="02020603050405020304" pitchFamily="18" charset="0"/>
                          <a:cs typeface="Times New Roman" panose="02020603050405020304" pitchFamily="18" charset="0"/>
                        </a:rPr>
                        <a:t>. </a:t>
                      </a:r>
                      <a:r>
                        <a:rPr lang="fr-FR" sz="1400" dirty="0"/>
                        <a:t>Le plan est associé à des projets actifs: message “Plan non supprimable (encore utilisé)”.</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703284349"/>
                  </a:ext>
                </a:extLst>
              </a:tr>
            </a:tbl>
          </a:graphicData>
        </a:graphic>
      </p:graphicFrame>
    </p:spTree>
    <p:extLst>
      <p:ext uri="{BB962C8B-B14F-4D97-AF65-F5344CB8AC3E}">
        <p14:creationId xmlns:p14="http://schemas.microsoft.com/office/powerpoint/2010/main" val="305887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74671C-1974-421B-9BDE-274E7A1F4FB5}"/>
              </a:ext>
            </a:extLst>
          </p:cNvPr>
          <p:cNvSpPr>
            <a:spLocks noGrp="1"/>
          </p:cNvSpPr>
          <p:nvPr>
            <p:ph type="title"/>
          </p:nvPr>
        </p:nvSpPr>
        <p:spPr>
          <a:xfrm>
            <a:off x="950259" y="116541"/>
            <a:ext cx="11024192" cy="824753"/>
          </a:xfrm>
        </p:spPr>
        <p:txBody>
          <a:bodyPr>
            <a:normAutofit/>
          </a:bodyPr>
          <a:lstStyle/>
          <a:p>
            <a:pPr algn="ctr"/>
            <a:r>
              <a:rPr lang="fr-FR" sz="1600" b="1" i="0" u="none" strike="noStrike" dirty="0">
                <a:solidFill>
                  <a:srgbClr val="000000"/>
                </a:solidFill>
                <a:effectLst/>
                <a:latin typeface="Times New Roman" panose="02020603050405020304" pitchFamily="18" charset="0"/>
                <a:cs typeface="Times New Roman" panose="02020603050405020304" pitchFamily="18" charset="0"/>
              </a:rPr>
              <a:t>Cas </a:t>
            </a:r>
            <a:r>
              <a:rPr lang="fr-FR" sz="1600" b="1" i="0" u="none" strike="noStrike">
                <a:solidFill>
                  <a:srgbClr val="000000"/>
                </a:solidFill>
                <a:effectLst/>
                <a:latin typeface="Times New Roman" panose="02020603050405020304" pitchFamily="18" charset="0"/>
                <a:cs typeface="Times New Roman" panose="02020603050405020304" pitchFamily="18" charset="0"/>
              </a:rPr>
              <a:t>d’utilisation 10 </a:t>
            </a:r>
            <a:r>
              <a:rPr lang="fr-FR" sz="1600" b="1" i="0" u="none" strike="noStrike" dirty="0">
                <a:solidFill>
                  <a:srgbClr val="000000"/>
                </a:solidFill>
                <a:effectLst/>
                <a:latin typeface="Times New Roman" panose="02020603050405020304" pitchFamily="18" charset="0"/>
                <a:cs typeface="Times New Roman" panose="02020603050405020304" pitchFamily="18" charset="0"/>
              </a:rPr>
              <a:t>: Générer des factures</a:t>
            </a:r>
            <a:endParaRPr lang="fr-CM" sz="1600" dirty="0">
              <a:latin typeface="Times New Roman" panose="02020603050405020304" pitchFamily="18" charset="0"/>
              <a:cs typeface="Times New Roman" panose="02020603050405020304" pitchFamily="18" charset="0"/>
            </a:endParaRPr>
          </a:p>
        </p:txBody>
      </p:sp>
      <p:graphicFrame>
        <p:nvGraphicFramePr>
          <p:cNvPr id="4" name="Tableau 4">
            <a:extLst>
              <a:ext uri="{FF2B5EF4-FFF2-40B4-BE49-F238E27FC236}">
                <a16:creationId xmlns:a16="http://schemas.microsoft.com/office/drawing/2014/main" id="{E49E76B0-5707-4446-A6BA-C9DD0BF1EC19}"/>
              </a:ext>
            </a:extLst>
          </p:cNvPr>
          <p:cNvGraphicFramePr>
            <a:graphicFrameLocks noGrp="1"/>
          </p:cNvGraphicFramePr>
          <p:nvPr>
            <p:ph idx="1"/>
            <p:extLst>
              <p:ext uri="{D42A27DB-BD31-4B8C-83A1-F6EECF244321}">
                <p14:modId xmlns:p14="http://schemas.microsoft.com/office/powerpoint/2010/main" val="2872761929"/>
              </p:ext>
            </p:extLst>
          </p:nvPr>
        </p:nvGraphicFramePr>
        <p:xfrm>
          <a:off x="950259" y="855076"/>
          <a:ext cx="11024192" cy="5816600"/>
        </p:xfrm>
        <a:graphic>
          <a:graphicData uri="http://schemas.openxmlformats.org/drawingml/2006/table">
            <a:tbl>
              <a:tblPr firstRow="1" bandRow="1">
                <a:tableStyleId>{5C22544A-7EE6-4342-B048-85BDC9FD1C3A}</a:tableStyleId>
              </a:tblPr>
              <a:tblGrid>
                <a:gridCol w="1649506">
                  <a:extLst>
                    <a:ext uri="{9D8B030D-6E8A-4147-A177-3AD203B41FA5}">
                      <a16:colId xmlns:a16="http://schemas.microsoft.com/office/drawing/2014/main" val="527209989"/>
                    </a:ext>
                  </a:extLst>
                </a:gridCol>
                <a:gridCol w="9374686">
                  <a:extLst>
                    <a:ext uri="{9D8B030D-6E8A-4147-A177-3AD203B41FA5}">
                      <a16:colId xmlns:a16="http://schemas.microsoft.com/office/drawing/2014/main" val="955322709"/>
                    </a:ext>
                  </a:extLst>
                </a:gridCol>
              </a:tblGrid>
              <a:tr h="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Titre</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Génération de factures de consommation</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990503272"/>
                  </a:ext>
                </a:extLst>
              </a:tr>
              <a:tr h="425681">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Résumé</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Permet de calculer les coûts d’utilisation des ressources et de générer une facture par projet.</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238153727"/>
                  </a:ext>
                </a:extLst>
              </a:tr>
              <a:tr h="425681">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Acteur(s)</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CM" sz="1400" b="0" i="0" u="none" strike="noStrike">
                          <a:solidFill>
                            <a:srgbClr val="000000"/>
                          </a:solidFill>
                          <a:effectLst/>
                          <a:latin typeface="Times New Roman" panose="02020603050405020304" pitchFamily="18" charset="0"/>
                          <a:cs typeface="Times New Roman" panose="02020603050405020304" pitchFamily="18" charset="0"/>
                        </a:rPr>
                        <a:t>Utilisateur, Système de facturation</a:t>
                      </a:r>
                      <a:endParaRPr lang="fr-CM"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331182032"/>
                  </a:ext>
                </a:extLst>
              </a:tr>
              <a:tr h="73043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Description</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Le système récupère les métriques de consommation (CPU, stockage, bande passante) et applique les tarifs définis pour produire une facture.</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249815003"/>
                  </a:ext>
                </a:extLst>
              </a:tr>
              <a:tr h="1035179">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Préconditions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1. L’utilisateur doit être connecté.</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 L’utilisateur doit avoir les droits</a:t>
                      </a:r>
                      <a:br>
                        <a:rPr lang="fr-FR" sz="1400" b="0" i="0" u="none" strike="noStrike" dirty="0">
                          <a:solidFill>
                            <a:srgbClr val="000000"/>
                          </a:solidFill>
                          <a:effectLst/>
                          <a:latin typeface="Times New Roman" panose="02020603050405020304" pitchFamily="18" charset="0"/>
                          <a:cs typeface="Times New Roman" panose="02020603050405020304" pitchFamily="18" charset="0"/>
                        </a:rPr>
                      </a:br>
                      <a:r>
                        <a:rPr lang="fr-FR" sz="1400" b="0" i="0" u="none" strike="noStrike" dirty="0">
                          <a:solidFill>
                            <a:srgbClr val="000000"/>
                          </a:solidFill>
                          <a:effectLst/>
                          <a:latin typeface="Times New Roman" panose="02020603050405020304" pitchFamily="18" charset="0"/>
                          <a:cs typeface="Times New Roman" panose="02020603050405020304" pitchFamily="18" charset="0"/>
                        </a:rPr>
                        <a:t>3. Des métriques de consommation doivent être disponibles.</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346528637"/>
                  </a:ext>
                </a:extLst>
              </a:tr>
              <a:tr h="425681">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Postconditions</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Une facture PDF est générée et envoyée par email au propriétaire du projet.</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025463295"/>
                  </a:ext>
                </a:extLst>
              </a:tr>
              <a:tr h="1339929">
                <a:tc>
                  <a:txBody>
                    <a:bodyPr/>
                    <a:lstStyle/>
                    <a:p>
                      <a:pPr rtl="0" fontAlgn="t">
                        <a:lnSpc>
                          <a:spcPct val="150000"/>
                        </a:lnSpc>
                        <a:spcBef>
                          <a:spcPts val="0"/>
                        </a:spcBef>
                        <a:spcAft>
                          <a:spcPts val="0"/>
                        </a:spcAft>
                      </a:pPr>
                      <a:r>
                        <a:rPr lang="fr-CM" sz="1400" b="1" i="0" u="none" strike="noStrike">
                          <a:solidFill>
                            <a:srgbClr val="000000"/>
                          </a:solidFill>
                          <a:effectLst/>
                          <a:latin typeface="Times New Roman" panose="02020603050405020304" pitchFamily="18" charset="0"/>
                          <a:cs typeface="Times New Roman" panose="02020603050405020304" pitchFamily="18" charset="0"/>
                        </a:rPr>
                        <a:t>Scénario nominal</a:t>
                      </a:r>
                      <a:endParaRPr lang="fr-CM" sz="140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1. L’utilisateur consulte la liste des projets.</a:t>
                      </a:r>
                      <a:br>
                        <a:rPr lang="fr-FR" sz="1400" b="0" i="0" u="none" strike="noStrike">
                          <a:solidFill>
                            <a:srgbClr val="000000"/>
                          </a:solidFill>
                          <a:effectLst/>
                          <a:latin typeface="Times New Roman" panose="02020603050405020304" pitchFamily="18" charset="0"/>
                          <a:cs typeface="Times New Roman" panose="02020603050405020304" pitchFamily="18" charset="0"/>
                        </a:rPr>
                      </a:br>
                      <a:r>
                        <a:rPr lang="fr-FR" sz="1400" b="0" i="0" u="none" strike="noStrike">
                          <a:solidFill>
                            <a:srgbClr val="000000"/>
                          </a:solidFill>
                          <a:effectLst/>
                          <a:latin typeface="Times New Roman" panose="02020603050405020304" pitchFamily="18" charset="0"/>
                          <a:cs typeface="Times New Roman" panose="02020603050405020304" pitchFamily="18" charset="0"/>
                        </a:rPr>
                        <a:t>2. Le système récupère par projet les métriques depuis Gnocchi.</a:t>
                      </a:r>
                      <a:endParaRPr lang="fr-FR" sz="140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a:solidFill>
                            <a:srgbClr val="000000"/>
                          </a:solidFill>
                          <a:effectLst/>
                          <a:latin typeface="Times New Roman" panose="02020603050405020304" pitchFamily="18" charset="0"/>
                          <a:cs typeface="Times New Roman" panose="02020603050405020304" pitchFamily="18" charset="0"/>
                        </a:rPr>
                        <a:t>3. Il applique les règles tarifaires.</a:t>
                      </a:r>
                      <a:br>
                        <a:rPr lang="fr-FR" sz="1400" b="0" i="0" u="none" strike="noStrike">
                          <a:solidFill>
                            <a:srgbClr val="000000"/>
                          </a:solidFill>
                          <a:effectLst/>
                          <a:latin typeface="Times New Roman" panose="02020603050405020304" pitchFamily="18" charset="0"/>
                          <a:cs typeface="Times New Roman" panose="02020603050405020304" pitchFamily="18" charset="0"/>
                        </a:rPr>
                      </a:br>
                      <a:r>
                        <a:rPr lang="fr-FR" sz="1400" b="0" i="0" u="none" strike="noStrike">
                          <a:solidFill>
                            <a:srgbClr val="000000"/>
                          </a:solidFill>
                          <a:effectLst/>
                          <a:latin typeface="Times New Roman" panose="02020603050405020304" pitchFamily="18" charset="0"/>
                          <a:cs typeface="Times New Roman" panose="02020603050405020304" pitchFamily="18" charset="0"/>
                        </a:rPr>
                        <a:t>4. La facture est calculée et envoyée automatiquement par mail.</a:t>
                      </a:r>
                      <a:endParaRPr lang="fr-FR" sz="14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071831176"/>
                  </a:ext>
                </a:extLst>
              </a:tr>
              <a:tr h="425630">
                <a:tc>
                  <a:txBody>
                    <a:bodyPr/>
                    <a:lstStyle/>
                    <a:p>
                      <a:pPr rtl="0" fontAlgn="t">
                        <a:lnSpc>
                          <a:spcPct val="150000"/>
                        </a:lnSpc>
                        <a:spcBef>
                          <a:spcPts val="0"/>
                        </a:spcBef>
                        <a:spcAft>
                          <a:spcPts val="0"/>
                        </a:spcAft>
                      </a:pPr>
                      <a:r>
                        <a:rPr lang="fr-CM" sz="1400" b="1" i="0" u="none" strike="noStrike" dirty="0">
                          <a:solidFill>
                            <a:srgbClr val="000000"/>
                          </a:solidFill>
                          <a:effectLst/>
                          <a:latin typeface="Times New Roman" panose="02020603050405020304" pitchFamily="18" charset="0"/>
                          <a:cs typeface="Times New Roman" panose="02020603050405020304" pitchFamily="18" charset="0"/>
                        </a:rPr>
                        <a:t>Scénario alternatif</a:t>
                      </a:r>
                      <a:endParaRPr lang="fr-CM" sz="14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2.a. Aucune métrique disponible: message “Impossible de générer une facture”.</a:t>
                      </a:r>
                      <a:endParaRPr lang="fr-FR" sz="1400" dirty="0">
                        <a:effectLst/>
                        <a:latin typeface="Times New Roman" panose="02020603050405020304" pitchFamily="18" charset="0"/>
                        <a:cs typeface="Times New Roman" panose="02020603050405020304" pitchFamily="18" charset="0"/>
                      </a:endParaRPr>
                    </a:p>
                    <a:p>
                      <a:pPr rtl="0" fontAlgn="t">
                        <a:lnSpc>
                          <a:spcPct val="150000"/>
                        </a:lnSpc>
                        <a:spcBef>
                          <a:spcPts val="0"/>
                        </a:spcBef>
                        <a:spcAft>
                          <a:spcPts val="0"/>
                        </a:spcAft>
                      </a:pPr>
                      <a:r>
                        <a:rPr lang="fr-FR" sz="1400" b="0" i="0" u="none" strike="noStrike" dirty="0">
                          <a:solidFill>
                            <a:srgbClr val="000000"/>
                          </a:solidFill>
                          <a:effectLst/>
                          <a:latin typeface="Times New Roman" panose="02020603050405020304" pitchFamily="18" charset="0"/>
                          <a:cs typeface="Times New Roman" panose="02020603050405020304" pitchFamily="18" charset="0"/>
                        </a:rPr>
                        <a:t>3.a. Erreur de facturation: Sauvegarde dans un fichier.</a:t>
                      </a:r>
                      <a:endParaRPr lang="fr-FR" sz="14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501145230"/>
                  </a:ext>
                </a:extLst>
              </a:tr>
            </a:tbl>
          </a:graphicData>
        </a:graphic>
      </p:graphicFrame>
    </p:spTree>
    <p:extLst>
      <p:ext uri="{BB962C8B-B14F-4D97-AF65-F5344CB8AC3E}">
        <p14:creationId xmlns:p14="http://schemas.microsoft.com/office/powerpoint/2010/main" val="3618774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CD33D3-3D9E-4289-B600-CABF4C8ED300}"/>
              </a:ext>
            </a:extLst>
          </p:cNvPr>
          <p:cNvSpPr>
            <a:spLocks noGrp="1"/>
          </p:cNvSpPr>
          <p:nvPr>
            <p:ph type="title"/>
          </p:nvPr>
        </p:nvSpPr>
        <p:spPr/>
        <p:txBody>
          <a:bodyPr>
            <a:normAutofit/>
          </a:bodyPr>
          <a:lstStyle/>
          <a:p>
            <a:r>
              <a:rPr lang="fr-CM" sz="4000" dirty="0">
                <a:latin typeface="Times New Roman" panose="02020603050405020304" pitchFamily="18" charset="0"/>
                <a:cs typeface="Times New Roman" panose="02020603050405020304" pitchFamily="18" charset="0"/>
              </a:rPr>
              <a:t>Conclusion</a:t>
            </a:r>
          </a:p>
        </p:txBody>
      </p:sp>
      <p:sp>
        <p:nvSpPr>
          <p:cNvPr id="5" name="ZoneTexte 4">
            <a:extLst>
              <a:ext uri="{FF2B5EF4-FFF2-40B4-BE49-F238E27FC236}">
                <a16:creationId xmlns:a16="http://schemas.microsoft.com/office/drawing/2014/main" id="{97284047-E5BF-4CAF-896B-294E1D996FA5}"/>
              </a:ext>
            </a:extLst>
          </p:cNvPr>
          <p:cNvSpPr txBox="1"/>
          <p:nvPr/>
        </p:nvSpPr>
        <p:spPr>
          <a:xfrm>
            <a:off x="1023938" y="1705126"/>
            <a:ext cx="11309684" cy="2535566"/>
          </a:xfrm>
          <a:prstGeom prst="rect">
            <a:avLst/>
          </a:prstGeom>
          <a:noFill/>
        </p:spPr>
        <p:txBody>
          <a:bodyPr wrap="square">
            <a:spAutoFit/>
          </a:bodyPr>
          <a:lstStyle/>
          <a:p>
            <a:pPr>
              <a:lnSpc>
                <a:spcPct val="150000"/>
              </a:lnSpc>
            </a:pPr>
            <a:r>
              <a:rPr lang="fr-FR" dirty="0">
                <a:latin typeface="Times New Roman" panose="02020603050405020304" pitchFamily="18" charset="0"/>
                <a:cs typeface="Times New Roman" panose="02020603050405020304" pitchFamily="18" charset="0"/>
              </a:rPr>
              <a:t>Ce projet vise à doter un environnement OpenStack d’un système de supervision et de télémétrie moderne, fondé sur les composants Ceilometer et Gnocchi. Grâce à la collecte, l’analyse et la visualisation centralisées des métriques, la solution permettra non seulement d’améliorer la gestion des performances et la disponibilité des services, mais aussi d’introduire une dimension économique via le suivi des coûts.</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Ce travail constitue une étape essentielle vers la mise en place d’un cloud intelligent, automatisé et économiquement maîtrisé.</a:t>
            </a:r>
            <a:endParaRPr lang="fr-C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286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FBC772C-7FDA-49B0-9452-207E9DC6D03C}"/>
              </a:ext>
            </a:extLst>
          </p:cNvPr>
          <p:cNvPicPr>
            <a:picLocks noChangeAspect="1"/>
          </p:cNvPicPr>
          <p:nvPr/>
        </p:nvPicPr>
        <p:blipFill>
          <a:blip r:embed="rId2"/>
          <a:stretch>
            <a:fillRect/>
          </a:stretch>
        </p:blipFill>
        <p:spPr>
          <a:xfrm>
            <a:off x="679618" y="502024"/>
            <a:ext cx="10966950" cy="5567082"/>
          </a:xfrm>
          <a:prstGeom prst="rect">
            <a:avLst/>
          </a:prstGeom>
        </p:spPr>
      </p:pic>
    </p:spTree>
    <p:extLst>
      <p:ext uri="{BB962C8B-B14F-4D97-AF65-F5344CB8AC3E}">
        <p14:creationId xmlns:p14="http://schemas.microsoft.com/office/powerpoint/2010/main" val="32858075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é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36804943_TF22378848.potx" id="{64A03BB9-641C-4E3F-A694-C453BE723143}" vid="{428F3FFD-DDE8-4CA6-BE65-84BE1BF156DB}"/>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Conception intégrale</Template>
  <TotalTime>2392</TotalTime>
  <Words>1963</Words>
  <Application>Microsoft Office PowerPoint</Application>
  <PresentationFormat>Grand écran</PresentationFormat>
  <Paragraphs>310</Paragraphs>
  <Slides>26</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26</vt:i4>
      </vt:variant>
    </vt:vector>
  </HeadingPairs>
  <TitlesOfParts>
    <vt:vector size="34" baseType="lpstr">
      <vt:lpstr>Bahnschrift</vt:lpstr>
      <vt:lpstr>Calibri</vt:lpstr>
      <vt:lpstr>Times New Roman</vt:lpstr>
      <vt:lpstr>Tw Cen MT</vt:lpstr>
      <vt:lpstr>Tw Cen MT Condensed</vt:lpstr>
      <vt:lpstr>Wingdings</vt:lpstr>
      <vt:lpstr>Wingdings 3</vt:lpstr>
      <vt:lpstr>Intégral</vt:lpstr>
      <vt:lpstr>Cahier d’analyse du projet</vt:lpstr>
      <vt:lpstr>PLAN</vt:lpstr>
      <vt:lpstr>Introduction</vt:lpstr>
      <vt:lpstr>Objectifs du projet</vt:lpstr>
      <vt:lpstr>BESOINS FONCTIONNELS</vt:lpstr>
      <vt:lpstr>BESOINS FONCTIONNELS</vt:lpstr>
      <vt:lpstr>DESCRIPTION DU MODELE DE FACTURATION</vt:lpstr>
      <vt:lpstr>DESCRIPTION DU MODELE DE FACTURATION</vt:lpstr>
      <vt:lpstr>DESCRIPTION DU MODELE DE FACTURATION</vt:lpstr>
      <vt:lpstr>DESCRIPTION DU MODELE DE FACTURATION</vt:lpstr>
      <vt:lpstr>DESCRIPTION DU MODELE DE FACTURATION</vt:lpstr>
      <vt:lpstr>Diagramme de cas d'utilisation</vt:lpstr>
      <vt:lpstr>Présentation PowerPoint</vt:lpstr>
      <vt:lpstr>Description détaillée des cas d’utilisation</vt:lpstr>
      <vt:lpstr>Cas d’utilisation 1 : Se connecter </vt:lpstr>
      <vt:lpstr>Cas d’utilisation 2 : Afficher la liste des projets</vt:lpstr>
      <vt:lpstr>Cas d’utilisation 3 : Afficher les détails d’un projet</vt:lpstr>
      <vt:lpstr>Cas d’utilisation 4 : Afficher les métriques d’une ressource</vt:lpstr>
      <vt:lpstr> Cas d’utilisation 5 : Afficher les métriques d’un projet</vt:lpstr>
      <vt:lpstr>Cas d’utilisation 6 : Afficher l’historique des événements</vt:lpstr>
      <vt:lpstr> Cas d’utilisation 7 : Définir des seuils d’alerte</vt:lpstr>
      <vt:lpstr> Cas d’utilisation 8: Ajouter un plan tarifaire</vt:lpstr>
      <vt:lpstr> Cas d’utilisation 9 : SUPPRIMER un plan tarifaire</vt:lpstr>
      <vt:lpstr>Cas d’utilisation 10 : Générer des factures</vt:lpstr>
      <vt:lpstr>Conclusion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d’analyse du projet</dc:title>
  <dc:creator>BRANDON POKEM</dc:creator>
  <cp:lastModifiedBy>RONICE MAMELEM DJANZE</cp:lastModifiedBy>
  <cp:revision>63</cp:revision>
  <dcterms:created xsi:type="dcterms:W3CDTF">2025-10-22T14:41:54Z</dcterms:created>
  <dcterms:modified xsi:type="dcterms:W3CDTF">2026-01-24T07:06:10Z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